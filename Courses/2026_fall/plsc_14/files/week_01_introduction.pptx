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87" r:id="rId3"/>
    <p:sldId id="289" r:id="rId4"/>
    <p:sldId id="276" r:id="rId5"/>
    <p:sldId id="290" r:id="rId6"/>
    <p:sldId id="288" r:id="rId7"/>
    <p:sldId id="267" r:id="rId8"/>
    <p:sldId id="270" r:id="rId9"/>
    <p:sldId id="286" r:id="rId10"/>
    <p:sldId id="285" r:id="rId11"/>
    <p:sldId id="269" r:id="rId12"/>
    <p:sldId id="291" r:id="rId13"/>
    <p:sldId id="271" r:id="rId1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1DD97D-D91B-A040-BC9F-794E8F6B9376}" v="24" dt="2026-08-26T13:04:42.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31"/>
    <p:restoredTop sz="94707"/>
  </p:normalViewPr>
  <p:slideViewPr>
    <p:cSldViewPr>
      <p:cViewPr varScale="1">
        <p:scale>
          <a:sx n="115" d="100"/>
          <a:sy n="115" d="100"/>
        </p:scale>
        <p:origin x="2456"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Boliang" userId="2807e975-b482-45f1-8aec-1c6c50fca21e" providerId="ADAL" clId="{3383B8EF-DC2A-543C-9364-0AEE61D2B73D}"/>
    <pc:docChg chg="modSld">
      <pc:chgData name="Zhu, Boliang" userId="2807e975-b482-45f1-8aec-1c6c50fca21e" providerId="ADAL" clId="{3383B8EF-DC2A-543C-9364-0AEE61D2B73D}" dt="2026-08-26T13:04:42.556" v="22" actId="20577"/>
      <pc:docMkLst>
        <pc:docMk/>
      </pc:docMkLst>
      <pc:sldChg chg="modSp">
        <pc:chgData name="Zhu, Boliang" userId="2807e975-b482-45f1-8aec-1c6c50fca21e" providerId="ADAL" clId="{3383B8EF-DC2A-543C-9364-0AEE61D2B73D}" dt="2026-08-25T00:42:56.064" v="2" actId="20577"/>
        <pc:sldMkLst>
          <pc:docMk/>
          <pc:sldMk cId="3363438198" sldId="287"/>
        </pc:sldMkLst>
        <pc:spChg chg="mod">
          <ac:chgData name="Zhu, Boliang" userId="2807e975-b482-45f1-8aec-1c6c50fca21e" providerId="ADAL" clId="{3383B8EF-DC2A-543C-9364-0AEE61D2B73D}" dt="2026-08-25T00:42:56.064" v="2" actId="20577"/>
          <ac:spMkLst>
            <pc:docMk/>
            <pc:sldMk cId="3363438198" sldId="287"/>
            <ac:spMk id="2" creationId="{8C524BC1-5633-6180-CB26-52AE6C0E1255}"/>
          </ac:spMkLst>
        </pc:spChg>
      </pc:sldChg>
      <pc:sldChg chg="modSp">
        <pc:chgData name="Zhu, Boliang" userId="2807e975-b482-45f1-8aec-1c6c50fca21e" providerId="ADAL" clId="{3383B8EF-DC2A-543C-9364-0AEE61D2B73D}" dt="2026-08-26T13:04:42.556" v="22" actId="20577"/>
        <pc:sldMkLst>
          <pc:docMk/>
          <pc:sldMk cId="810669735" sldId="288"/>
        </pc:sldMkLst>
        <pc:spChg chg="mod">
          <ac:chgData name="Zhu, Boliang" userId="2807e975-b482-45f1-8aec-1c6c50fca21e" providerId="ADAL" clId="{3383B8EF-DC2A-543C-9364-0AEE61D2B73D}" dt="2026-08-26T13:04:42.556" v="22" actId="20577"/>
          <ac:spMkLst>
            <pc:docMk/>
            <pc:sldMk cId="810669735" sldId="288"/>
            <ac:spMk id="2" creationId="{B805AB21-5952-238B-9248-11B676B29CD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47A469-0158-48AE-95EF-A6F35E787CF3}" type="datetimeFigureOut">
              <a:rPr lang="en-US" smtClean="0"/>
              <a:pPr/>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47A469-0158-48AE-95EF-A6F35E787CF3}" type="datetimeFigureOut">
              <a:rPr lang="en-US" smtClean="0"/>
              <a:pPr/>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7A47A469-0158-48AE-95EF-A6F35E787CF3}" type="datetimeFigureOut">
              <a:rPr lang="en-US" smtClean="0"/>
              <a:pPr/>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7A469-0158-48AE-95EF-A6F35E787CF3}" type="datetimeFigureOut">
              <a:rPr lang="en-US" smtClean="0"/>
              <a:pPr/>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A47A469-0158-48AE-95EF-A6F35E787CF3}" type="datetimeFigureOut">
              <a:rPr lang="en-US" smtClean="0"/>
              <a:pPr/>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A47A469-0158-48AE-95EF-A6F35E787CF3}" type="datetimeFigureOut">
              <a:rPr lang="en-US" smtClean="0"/>
              <a:pPr/>
              <a:t>8/26/26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D88A354-FF75-402C-A63C-FF2AD54F942C}"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NVCDnUZqLzU?start=2&amp;feature=oembe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ate.psu.edu/policies-and-rules-for-undergraduate-students/47-00-48-00-and-49-00-grades/#49-20" TargetMode="External"/><Relationship Id="rId2" Type="http://schemas.openxmlformats.org/officeDocument/2006/relationships/hyperlink" Target="http://www.la.psu.edu/" TargetMode="External"/><Relationship Id="rId1" Type="http://schemas.openxmlformats.org/officeDocument/2006/relationships/slideLayout" Target="../slideLayouts/slideLayout2.xml"/><Relationship Id="rId4" Type="http://schemas.openxmlformats.org/officeDocument/2006/relationships/hyperlink" Target="http://undergrad.psu.edu/aappm/G-9-academic-integrity.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PLSC 14: International Relations</a:t>
            </a:r>
          </a:p>
        </p:txBody>
      </p:sp>
      <p:sp>
        <p:nvSpPr>
          <p:cNvPr id="3" name="Subtitle 2"/>
          <p:cNvSpPr>
            <a:spLocks noGrp="1"/>
          </p:cNvSpPr>
          <p:nvPr>
            <p:ph type="subTitle" idx="1"/>
          </p:nvPr>
        </p:nvSpPr>
        <p:spPr/>
        <p:txBody>
          <a:bodyPr>
            <a:normAutofit/>
          </a:bodyPr>
          <a:lstStyle/>
          <a:p>
            <a:endParaRPr lang="en-US" dirty="0"/>
          </a:p>
          <a:p>
            <a:r>
              <a:rPr lang="en-US" dirty="0"/>
              <a:t>Professor </a:t>
            </a:r>
            <a:r>
              <a:rPr lang="en-US" dirty="0" err="1"/>
              <a:t>Boliang</a:t>
            </a:r>
            <a:r>
              <a:rPr lang="en-US" dirty="0"/>
              <a:t> Zhu</a:t>
            </a:r>
          </a:p>
          <a:p>
            <a:endParaRPr lang="en-US" dirty="0"/>
          </a:p>
        </p:txBody>
      </p:sp>
    </p:spTree>
    <p:extLst>
      <p:ext uri="{BB962C8B-B14F-4D97-AF65-F5344CB8AC3E}">
        <p14:creationId xmlns:p14="http://schemas.microsoft.com/office/powerpoint/2010/main" val="336287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524BC1-5633-6180-CB26-52AE6C0E1255}"/>
              </a:ext>
            </a:extLst>
          </p:cNvPr>
          <p:cNvSpPr>
            <a:spLocks noGrp="1"/>
          </p:cNvSpPr>
          <p:nvPr>
            <p:ph idx="1"/>
          </p:nvPr>
        </p:nvSpPr>
        <p:spPr>
          <a:xfrm>
            <a:off x="872067" y="1905000"/>
            <a:ext cx="7408333" cy="4221163"/>
          </a:xfrm>
        </p:spPr>
        <p:txBody>
          <a:bodyPr>
            <a:normAutofit fontScale="92500" lnSpcReduction="10000"/>
          </a:bodyPr>
          <a:lstStyle/>
          <a:p>
            <a:pPr>
              <a:buFont typeface="Wingdings" pitchFamily="2" charset="2"/>
              <a:buChar char="q"/>
            </a:pPr>
            <a:r>
              <a:rPr lang="en-US" dirty="0"/>
              <a:t>Also called “World Politics”</a:t>
            </a:r>
          </a:p>
          <a:p>
            <a:pPr>
              <a:buFont typeface="Wingdings" pitchFamily="2" charset="2"/>
              <a:buChar char="q"/>
            </a:pPr>
            <a:endParaRPr lang="en-US" sz="900" dirty="0"/>
          </a:p>
          <a:p>
            <a:pPr>
              <a:buFont typeface="Wingdings" pitchFamily="2" charset="2"/>
              <a:buChar char="q"/>
            </a:pPr>
            <a:r>
              <a:rPr lang="en-US" dirty="0"/>
              <a:t>Seeks to understand how the peoples and countries of the world get along.</a:t>
            </a:r>
          </a:p>
          <a:p>
            <a:pPr lvl="1">
              <a:buFont typeface="Wingdings" pitchFamily="2" charset="2"/>
              <a:buChar char="Ø"/>
            </a:pPr>
            <a:r>
              <a:rPr lang="en-US" sz="1700" dirty="0"/>
              <a:t>Why do countries fight wars?</a:t>
            </a:r>
          </a:p>
          <a:p>
            <a:pPr lvl="1">
              <a:buFont typeface="Wingdings" pitchFamily="2" charset="2"/>
              <a:buChar char="Ø"/>
            </a:pPr>
            <a:r>
              <a:rPr lang="en-US" sz="1700" dirty="0"/>
              <a:t>Why do some countries promote international trade while others choose to restrict it?</a:t>
            </a:r>
          </a:p>
          <a:p>
            <a:pPr lvl="1">
              <a:buFont typeface="Wingdings" pitchFamily="2" charset="2"/>
              <a:buChar char="Ø"/>
            </a:pPr>
            <a:r>
              <a:rPr lang="en-US" sz="1700" dirty="0"/>
              <a:t>Why do countries join international organizations?</a:t>
            </a:r>
          </a:p>
          <a:p>
            <a:pPr lvl="1">
              <a:buFont typeface="Wingdings" pitchFamily="2" charset="2"/>
              <a:buChar char="Ø"/>
            </a:pPr>
            <a:endParaRPr lang="en-US" sz="900" dirty="0"/>
          </a:p>
          <a:p>
            <a:pPr>
              <a:buFont typeface="Wingdings" pitchFamily="2" charset="2"/>
              <a:buChar char="q"/>
            </a:pPr>
            <a:r>
              <a:rPr lang="en-US" dirty="0"/>
              <a:t>A subfield of Political Science</a:t>
            </a:r>
          </a:p>
          <a:p>
            <a:pPr lvl="1">
              <a:buFont typeface="Wingdings" pitchFamily="2" charset="2"/>
              <a:buChar char="Ø"/>
            </a:pPr>
            <a:r>
              <a:rPr lang="en-US" sz="1700" dirty="0"/>
              <a:t>American Politics</a:t>
            </a:r>
          </a:p>
          <a:p>
            <a:pPr lvl="1">
              <a:buFont typeface="Wingdings" pitchFamily="2" charset="2"/>
              <a:buChar char="Ø"/>
            </a:pPr>
            <a:r>
              <a:rPr lang="en-US" sz="1700" dirty="0"/>
              <a:t>Comparative Politics</a:t>
            </a:r>
          </a:p>
          <a:p>
            <a:pPr lvl="1">
              <a:buFont typeface="Wingdings" pitchFamily="2" charset="2"/>
              <a:buChar char="Ø"/>
            </a:pPr>
            <a:r>
              <a:rPr lang="en-US" sz="1700" b="1" dirty="0"/>
              <a:t>International Relations</a:t>
            </a:r>
          </a:p>
          <a:p>
            <a:pPr lvl="1">
              <a:buFont typeface="Wingdings" pitchFamily="2" charset="2"/>
              <a:buChar char="Ø"/>
            </a:pPr>
            <a:r>
              <a:rPr lang="en-US" sz="1700" dirty="0"/>
              <a:t>Political Theory</a:t>
            </a:r>
          </a:p>
          <a:p>
            <a:pPr lvl="1">
              <a:buFont typeface="Wingdings" pitchFamily="2" charset="2"/>
              <a:buChar char="Ø"/>
            </a:pPr>
            <a:r>
              <a:rPr lang="en-US" sz="1700" dirty="0"/>
              <a:t>Methods</a:t>
            </a:r>
          </a:p>
          <a:p>
            <a:endParaRPr lang="en-US" dirty="0"/>
          </a:p>
        </p:txBody>
      </p:sp>
      <p:sp>
        <p:nvSpPr>
          <p:cNvPr id="3" name="Title 2">
            <a:extLst>
              <a:ext uri="{FF2B5EF4-FFF2-40B4-BE49-F238E27FC236}">
                <a16:creationId xmlns:a16="http://schemas.microsoft.com/office/drawing/2014/main" id="{D41EB359-0D60-39EE-0A19-E0D6906A108A}"/>
              </a:ext>
            </a:extLst>
          </p:cNvPr>
          <p:cNvSpPr>
            <a:spLocks noGrp="1"/>
          </p:cNvSpPr>
          <p:nvPr>
            <p:ph type="title"/>
          </p:nvPr>
        </p:nvSpPr>
        <p:spPr/>
        <p:txBody>
          <a:bodyPr>
            <a:normAutofit fontScale="90000"/>
          </a:bodyPr>
          <a:lstStyle/>
          <a:p>
            <a:r>
              <a:rPr lang="en-US" dirty="0"/>
              <a:t>What is International Relations (IR)?</a:t>
            </a:r>
          </a:p>
        </p:txBody>
      </p:sp>
    </p:spTree>
    <p:extLst>
      <p:ext uri="{BB962C8B-B14F-4D97-AF65-F5344CB8AC3E}">
        <p14:creationId xmlns:p14="http://schemas.microsoft.com/office/powerpoint/2010/main" val="336343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75489-6F6F-2312-2AD0-A128E694F8B1}"/>
              </a:ext>
            </a:extLst>
          </p:cNvPr>
          <p:cNvSpPr>
            <a:spLocks noGrp="1"/>
          </p:cNvSpPr>
          <p:nvPr>
            <p:ph type="title"/>
          </p:nvPr>
        </p:nvSpPr>
        <p:spPr/>
        <p:txBody>
          <a:bodyPr>
            <a:normAutofit fontScale="90000"/>
          </a:bodyPr>
          <a:lstStyle/>
          <a:p>
            <a:r>
              <a:rPr lang="en-US" dirty="0"/>
              <a:t>What is International Relations (IR)?</a:t>
            </a:r>
          </a:p>
        </p:txBody>
      </p:sp>
      <p:pic>
        <p:nvPicPr>
          <p:cNvPr id="4" name="Online Media 3" descr="International Relations: An Introduction">
            <a:hlinkClick r:id="" action="ppaction://media"/>
            <a:extLst>
              <a:ext uri="{FF2B5EF4-FFF2-40B4-BE49-F238E27FC236}">
                <a16:creationId xmlns:a16="http://schemas.microsoft.com/office/drawing/2014/main" id="{A9AD4386-BF82-74F2-F463-3CA26E96DC80}"/>
              </a:ext>
            </a:extLst>
          </p:cNvPr>
          <p:cNvPicPr>
            <a:picLocks noRot="1" noChangeAspect="1"/>
          </p:cNvPicPr>
          <p:nvPr>
            <a:videoFile r:link="rId1"/>
          </p:nvPr>
        </p:nvPicPr>
        <p:blipFill>
          <a:blip r:embed="rId3"/>
          <a:stretch>
            <a:fillRect/>
          </a:stretch>
        </p:blipFill>
        <p:spPr>
          <a:xfrm>
            <a:off x="232983" y="1676400"/>
            <a:ext cx="8678034" cy="4843272"/>
          </a:xfrm>
          <a:prstGeom prst="rect">
            <a:avLst/>
          </a:prstGeom>
        </p:spPr>
      </p:pic>
    </p:spTree>
    <p:extLst>
      <p:ext uri="{BB962C8B-B14F-4D97-AF65-F5344CB8AC3E}">
        <p14:creationId xmlns:p14="http://schemas.microsoft.com/office/powerpoint/2010/main" val="183940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Shape 222"/>
          <p:cNvSpPr>
            <a:spLocks noGrp="1"/>
          </p:cNvSpPr>
          <p:nvPr>
            <p:ph type="title"/>
          </p:nvPr>
        </p:nvSpPr>
        <p:spPr/>
        <p:txBody>
          <a:bodyPr/>
          <a:lstStyle/>
          <a:p>
            <a:r>
              <a:rPr lang="en-US" dirty="0"/>
              <a:t>What IR Studies? </a:t>
            </a:r>
          </a:p>
        </p:txBody>
      </p:sp>
      <p:sp>
        <p:nvSpPr>
          <p:cNvPr id="223" name="Shape 223"/>
          <p:cNvSpPr>
            <a:spLocks noGrp="1"/>
          </p:cNvSpPr>
          <p:nvPr>
            <p:ph type="body" idx="1"/>
          </p:nvPr>
        </p:nvSpPr>
        <p:spPr>
          <a:xfrm>
            <a:off x="685800" y="1828800"/>
            <a:ext cx="7772399" cy="4297363"/>
          </a:xfrm>
        </p:spPr>
        <p:txBody>
          <a:bodyPr>
            <a:normAutofit/>
          </a:bodyPr>
          <a:lstStyle/>
          <a:p>
            <a:pPr>
              <a:buFont typeface="Wingdings" pitchFamily="2" charset="2"/>
              <a:buChar char="q"/>
            </a:pPr>
            <a:r>
              <a:rPr lang="en-US" b="1" dirty="0"/>
              <a:t>Security and Conflict</a:t>
            </a:r>
          </a:p>
          <a:p>
            <a:pPr lvl="1">
              <a:buFont typeface="Wingdings" pitchFamily="2" charset="2"/>
              <a:buChar char="Ø"/>
            </a:pPr>
            <a:r>
              <a:rPr lang="en-US" dirty="0"/>
              <a:t>Interstate wars, civil wars, and terrorism</a:t>
            </a:r>
          </a:p>
          <a:p>
            <a:pPr lvl="1"/>
            <a:endParaRPr lang="en-US" sz="800" dirty="0"/>
          </a:p>
          <a:p>
            <a:pPr>
              <a:buFont typeface="Wingdings" pitchFamily="2" charset="2"/>
              <a:buChar char="q"/>
            </a:pPr>
            <a:r>
              <a:rPr lang="en-US" b="1" dirty="0"/>
              <a:t>International Political Economy</a:t>
            </a:r>
          </a:p>
          <a:p>
            <a:pPr lvl="1">
              <a:buFont typeface="Wingdings" pitchFamily="2" charset="2"/>
              <a:buChar char="Ø"/>
            </a:pPr>
            <a:r>
              <a:rPr lang="en-US" dirty="0"/>
              <a:t>Trade, finance, foreign investment, migration</a:t>
            </a:r>
          </a:p>
          <a:p>
            <a:pPr lvl="1"/>
            <a:endParaRPr lang="en-US" sz="800" dirty="0"/>
          </a:p>
          <a:p>
            <a:pPr>
              <a:buFont typeface="Wingdings" pitchFamily="2" charset="2"/>
              <a:buChar char="q"/>
            </a:pPr>
            <a:r>
              <a:rPr lang="en-US" b="1" dirty="0"/>
              <a:t>International Organizations</a:t>
            </a:r>
          </a:p>
          <a:p>
            <a:pPr lvl="1">
              <a:buFont typeface="Wingdings" pitchFamily="2" charset="2"/>
              <a:buChar char="Ø"/>
            </a:pPr>
            <a:r>
              <a:rPr lang="en-US" dirty="0"/>
              <a:t>UN, WTO, NATO, IMF, World Bank, OPEC</a:t>
            </a:r>
          </a:p>
          <a:p>
            <a:pPr lvl="1"/>
            <a:endParaRPr lang="en-US" sz="800" dirty="0"/>
          </a:p>
          <a:p>
            <a:pPr>
              <a:buFont typeface="Wingdings" pitchFamily="2" charset="2"/>
              <a:buChar char="q"/>
            </a:pPr>
            <a:r>
              <a:rPr lang="en-US" b="1" dirty="0"/>
              <a:t>Transnational Actors and Global Issues</a:t>
            </a:r>
          </a:p>
          <a:p>
            <a:pPr lvl="1">
              <a:buFont typeface="Wingdings" pitchFamily="2" charset="2"/>
              <a:buChar char="Ø"/>
            </a:pPr>
            <a:r>
              <a:rPr lang="en-US" dirty="0"/>
              <a:t>Aid, development, terrorist groups, international crime, advocacy groups, the global environment</a:t>
            </a:r>
          </a:p>
        </p:txBody>
      </p:sp>
    </p:spTree>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409613-0A98-41D9-3D65-AFC8F1D0BADA}"/>
              </a:ext>
            </a:extLst>
          </p:cNvPr>
          <p:cNvSpPr>
            <a:spLocks noGrp="1"/>
          </p:cNvSpPr>
          <p:nvPr>
            <p:ph idx="1"/>
          </p:nvPr>
        </p:nvSpPr>
        <p:spPr>
          <a:xfrm>
            <a:off x="762001" y="1862328"/>
            <a:ext cx="7696200" cy="4386072"/>
          </a:xfrm>
        </p:spPr>
        <p:txBody>
          <a:bodyPr>
            <a:normAutofit fontScale="77500" lnSpcReduction="20000"/>
          </a:bodyPr>
          <a:lstStyle/>
          <a:p>
            <a:pPr>
              <a:buFont typeface="Wingdings" pitchFamily="2" charset="2"/>
              <a:buChar char="§"/>
            </a:pPr>
            <a:r>
              <a:rPr lang="en-US" dirty="0"/>
              <a:t>(Security) Why do countries fight wars to settle disputes, despite the high costs involved?</a:t>
            </a:r>
          </a:p>
          <a:p>
            <a:pPr>
              <a:buFont typeface="Wingdings" pitchFamily="2" charset="2"/>
              <a:buChar char="§"/>
            </a:pPr>
            <a:endParaRPr lang="en-US" sz="1100" dirty="0"/>
          </a:p>
          <a:p>
            <a:pPr>
              <a:buFont typeface="Wingdings" pitchFamily="2" charset="2"/>
              <a:buChar char="§"/>
            </a:pPr>
            <a:r>
              <a:rPr lang="en-US" dirty="0"/>
              <a:t>(Security) Why do civil wars occur? Who joins rebel groups?</a:t>
            </a:r>
          </a:p>
          <a:p>
            <a:pPr>
              <a:buFont typeface="Wingdings" pitchFamily="2" charset="2"/>
              <a:buChar char="§"/>
            </a:pPr>
            <a:endParaRPr lang="en-US" sz="1100" dirty="0"/>
          </a:p>
          <a:p>
            <a:pPr>
              <a:buFont typeface="Wingdings" pitchFamily="2" charset="2"/>
              <a:buChar char="§"/>
            </a:pPr>
            <a:r>
              <a:rPr lang="en-US" dirty="0"/>
              <a:t>(IPE) Why do states have different trade, investment, and financial policies? How do interest groups influence foreign economic policy-making?</a:t>
            </a:r>
          </a:p>
          <a:p>
            <a:pPr>
              <a:buFont typeface="Wingdings" pitchFamily="2" charset="2"/>
              <a:buChar char="§"/>
            </a:pPr>
            <a:endParaRPr lang="en-US" sz="1100" dirty="0"/>
          </a:p>
          <a:p>
            <a:pPr>
              <a:buFont typeface="Wingdings" pitchFamily="2" charset="2"/>
              <a:buChar char="§"/>
            </a:pPr>
            <a:r>
              <a:rPr lang="en-US" dirty="0"/>
              <a:t>(IO) Why states comply with international law and norms?</a:t>
            </a:r>
          </a:p>
          <a:p>
            <a:pPr>
              <a:buFont typeface="Wingdings" pitchFamily="2" charset="2"/>
              <a:buChar char="§"/>
            </a:pPr>
            <a:endParaRPr lang="en-US" sz="1100" dirty="0"/>
          </a:p>
          <a:p>
            <a:pPr>
              <a:buFont typeface="Wingdings" pitchFamily="2" charset="2"/>
              <a:buChar char="§"/>
            </a:pPr>
            <a:r>
              <a:rPr lang="en-US" dirty="0"/>
              <a:t>(Transnational/Global) Why do countries provide aid, and how is aid allocated?</a:t>
            </a:r>
          </a:p>
          <a:p>
            <a:pPr>
              <a:buFont typeface="Wingdings" pitchFamily="2" charset="2"/>
              <a:buChar char="§"/>
            </a:pPr>
            <a:endParaRPr lang="en-US" sz="1100" dirty="0"/>
          </a:p>
          <a:p>
            <a:pPr>
              <a:buFont typeface="Wingdings" pitchFamily="2" charset="2"/>
              <a:buChar char="§"/>
            </a:pPr>
            <a:r>
              <a:rPr lang="en-US" dirty="0"/>
              <a:t>(Transnational/Global) Why do some governments protect human rights while others violate them?</a:t>
            </a:r>
          </a:p>
          <a:p>
            <a:pPr>
              <a:buFont typeface="Wingdings" pitchFamily="2" charset="2"/>
              <a:buChar char="§"/>
            </a:pPr>
            <a:endParaRPr lang="en-US" sz="1100" dirty="0"/>
          </a:p>
          <a:p>
            <a:pPr>
              <a:buFont typeface="Wingdings" pitchFamily="2" charset="2"/>
              <a:buChar char="§"/>
            </a:pPr>
            <a:r>
              <a:rPr lang="en-US" dirty="0"/>
              <a:t>(Transnational/Global) How can governments cooperate to address global environment challenges?</a:t>
            </a:r>
          </a:p>
        </p:txBody>
      </p:sp>
      <p:sp>
        <p:nvSpPr>
          <p:cNvPr id="3" name="Title 2">
            <a:extLst>
              <a:ext uri="{FF2B5EF4-FFF2-40B4-BE49-F238E27FC236}">
                <a16:creationId xmlns:a16="http://schemas.microsoft.com/office/drawing/2014/main" id="{A832C905-DC1E-D47E-9E9E-76C037BA9CD0}"/>
              </a:ext>
            </a:extLst>
          </p:cNvPr>
          <p:cNvSpPr>
            <a:spLocks noGrp="1"/>
          </p:cNvSpPr>
          <p:nvPr>
            <p:ph type="title"/>
          </p:nvPr>
        </p:nvSpPr>
        <p:spPr/>
        <p:txBody>
          <a:bodyPr/>
          <a:lstStyle/>
          <a:p>
            <a:r>
              <a:rPr lang="en-US" dirty="0"/>
              <a:t>Some Examples of IR Scholarship</a:t>
            </a:r>
          </a:p>
        </p:txBody>
      </p:sp>
    </p:spTree>
    <p:extLst>
      <p:ext uri="{BB962C8B-B14F-4D97-AF65-F5344CB8AC3E}">
        <p14:creationId xmlns:p14="http://schemas.microsoft.com/office/powerpoint/2010/main" val="2643735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05AB21-5952-238B-9248-11B676B29CDB}"/>
              </a:ext>
            </a:extLst>
          </p:cNvPr>
          <p:cNvSpPr>
            <a:spLocks noGrp="1"/>
          </p:cNvSpPr>
          <p:nvPr>
            <p:ph idx="1"/>
          </p:nvPr>
        </p:nvSpPr>
        <p:spPr>
          <a:xfrm>
            <a:off x="685801" y="1905000"/>
            <a:ext cx="8001000" cy="4419600"/>
          </a:xfrm>
        </p:spPr>
        <p:txBody>
          <a:bodyPr>
            <a:normAutofit/>
          </a:bodyPr>
          <a:lstStyle/>
          <a:p>
            <a:pPr>
              <a:buFont typeface="Wingdings" pitchFamily="2" charset="2"/>
              <a:buChar char="q"/>
            </a:pPr>
            <a:r>
              <a:rPr lang="en-US" dirty="0"/>
              <a:t>General Framework and Paradigms</a:t>
            </a:r>
          </a:p>
          <a:p>
            <a:pPr lvl="1">
              <a:buFont typeface="Wingdings" pitchFamily="2" charset="2"/>
              <a:buChar char="Ø"/>
            </a:pPr>
            <a:r>
              <a:rPr lang="en-US" sz="1600" dirty="0"/>
              <a:t>International System: Interests, </a:t>
            </a:r>
            <a:r>
              <a:rPr lang="en-US" sz="1600"/>
              <a:t>Interactions, and </a:t>
            </a:r>
            <a:r>
              <a:rPr lang="en-US" sz="1600" dirty="0"/>
              <a:t>Institutions</a:t>
            </a:r>
          </a:p>
          <a:p>
            <a:pPr lvl="1">
              <a:buFont typeface="Wingdings" pitchFamily="2" charset="2"/>
              <a:buChar char="Ø"/>
            </a:pPr>
            <a:r>
              <a:rPr lang="en-US" sz="1600" dirty="0"/>
              <a:t>Grand Theories: Realism, Liberalism, and Constructivism</a:t>
            </a:r>
          </a:p>
          <a:p>
            <a:pPr lvl="1"/>
            <a:endParaRPr lang="en-US" sz="1800" dirty="0"/>
          </a:p>
          <a:p>
            <a:pPr>
              <a:buFont typeface="Wingdings" pitchFamily="2" charset="2"/>
              <a:buChar char="q"/>
            </a:pPr>
            <a:r>
              <a:rPr lang="en-US" dirty="0"/>
              <a:t>Security and Conflict</a:t>
            </a:r>
          </a:p>
          <a:p>
            <a:pPr lvl="1">
              <a:buFont typeface="Wingdings" pitchFamily="2" charset="2"/>
              <a:buChar char="Ø"/>
            </a:pPr>
            <a:r>
              <a:rPr lang="en-US" sz="1600" dirty="0"/>
              <a:t>Interstate War</a:t>
            </a:r>
          </a:p>
          <a:p>
            <a:pPr lvl="1">
              <a:buFont typeface="Wingdings" pitchFamily="2" charset="2"/>
              <a:buChar char="Ø"/>
            </a:pPr>
            <a:r>
              <a:rPr lang="en-US" sz="1600" dirty="0"/>
              <a:t>Civil War and Terrorism</a:t>
            </a:r>
          </a:p>
          <a:p>
            <a:endParaRPr lang="en-US" sz="1800" dirty="0"/>
          </a:p>
          <a:p>
            <a:pPr>
              <a:buFont typeface="Wingdings" pitchFamily="2" charset="2"/>
              <a:buChar char="q"/>
            </a:pPr>
            <a:r>
              <a:rPr lang="en-US" dirty="0"/>
              <a:t>International Political Economy</a:t>
            </a:r>
          </a:p>
          <a:p>
            <a:pPr lvl="1">
              <a:buFont typeface="Wingdings" pitchFamily="2" charset="2"/>
              <a:buChar char="Ø"/>
            </a:pPr>
            <a:r>
              <a:rPr lang="en-US" sz="1600" dirty="0"/>
              <a:t>Trade</a:t>
            </a:r>
          </a:p>
          <a:p>
            <a:pPr lvl="1">
              <a:buFont typeface="Wingdings" pitchFamily="2" charset="2"/>
              <a:buChar char="Ø"/>
            </a:pPr>
            <a:r>
              <a:rPr lang="en-US" sz="1600" dirty="0"/>
              <a:t>Finance</a:t>
            </a:r>
          </a:p>
          <a:p>
            <a:pPr lvl="1">
              <a:buFont typeface="Wingdings" pitchFamily="2" charset="2"/>
              <a:buChar char="Ø"/>
            </a:pPr>
            <a:r>
              <a:rPr lang="en-US" sz="1600" dirty="0"/>
              <a:t>Development</a:t>
            </a:r>
          </a:p>
          <a:p>
            <a:pPr lvl="1">
              <a:buFont typeface="Wingdings" pitchFamily="2" charset="2"/>
              <a:buChar char="Ø"/>
            </a:pPr>
            <a:r>
              <a:rPr lang="en-US" sz="1600" dirty="0"/>
              <a:t>U.S.-China Economic Relations</a:t>
            </a:r>
          </a:p>
          <a:p>
            <a:endParaRPr lang="en-US" dirty="0"/>
          </a:p>
        </p:txBody>
      </p:sp>
      <p:sp>
        <p:nvSpPr>
          <p:cNvPr id="3" name="Title 2">
            <a:extLst>
              <a:ext uri="{FF2B5EF4-FFF2-40B4-BE49-F238E27FC236}">
                <a16:creationId xmlns:a16="http://schemas.microsoft.com/office/drawing/2014/main" id="{91829265-06D8-2DFB-EA49-1F3EC3FADDE8}"/>
              </a:ext>
            </a:extLst>
          </p:cNvPr>
          <p:cNvSpPr>
            <a:spLocks noGrp="1"/>
          </p:cNvSpPr>
          <p:nvPr>
            <p:ph type="title"/>
          </p:nvPr>
        </p:nvSpPr>
        <p:spPr/>
        <p:txBody>
          <a:bodyPr/>
          <a:lstStyle/>
          <a:p>
            <a:r>
              <a:rPr lang="en-US" dirty="0"/>
              <a:t>Course Outline</a:t>
            </a:r>
          </a:p>
        </p:txBody>
      </p:sp>
    </p:spTree>
    <p:extLst>
      <p:ext uri="{BB962C8B-B14F-4D97-AF65-F5344CB8AC3E}">
        <p14:creationId xmlns:p14="http://schemas.microsoft.com/office/powerpoint/2010/main" val="81066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981200"/>
            <a:ext cx="7848600" cy="4572000"/>
          </a:xfrm>
        </p:spPr>
        <p:txBody>
          <a:bodyPr>
            <a:normAutofit/>
          </a:bodyPr>
          <a:lstStyle/>
          <a:p>
            <a:pPr>
              <a:lnSpc>
                <a:spcPct val="150000"/>
              </a:lnSpc>
              <a:buFont typeface="Wingdings" panose="05000000000000000000" pitchFamily="2" charset="2"/>
              <a:buChar char="q"/>
            </a:pPr>
            <a:r>
              <a:rPr lang="en-US" sz="2800" b="1" dirty="0"/>
              <a:t>Midterm I (10/01): 22.5%</a:t>
            </a:r>
          </a:p>
          <a:p>
            <a:pPr>
              <a:lnSpc>
                <a:spcPct val="150000"/>
              </a:lnSpc>
              <a:buFont typeface="Wingdings" panose="05000000000000000000" pitchFamily="2" charset="2"/>
              <a:buChar char="q"/>
            </a:pPr>
            <a:r>
              <a:rPr lang="en-US" sz="2800" b="1" dirty="0"/>
              <a:t>Midterm II (11/05): 22.5%</a:t>
            </a:r>
          </a:p>
          <a:p>
            <a:pPr>
              <a:lnSpc>
                <a:spcPct val="150000"/>
              </a:lnSpc>
              <a:buFont typeface="Wingdings" panose="05000000000000000000" pitchFamily="2" charset="2"/>
              <a:buChar char="q"/>
            </a:pPr>
            <a:r>
              <a:rPr lang="en-US" sz="2800" b="1" dirty="0"/>
              <a:t>Final Exam (during finals week): 25%</a:t>
            </a:r>
          </a:p>
          <a:p>
            <a:pPr>
              <a:lnSpc>
                <a:spcPct val="150000"/>
              </a:lnSpc>
              <a:buFont typeface="Wingdings" panose="05000000000000000000" pitchFamily="2" charset="2"/>
              <a:buChar char="q"/>
            </a:pPr>
            <a:r>
              <a:rPr lang="en-US" sz="2800" b="1" dirty="0"/>
              <a:t>Seven Quizzes (only the highest five count): 15%</a:t>
            </a:r>
          </a:p>
          <a:p>
            <a:pPr>
              <a:lnSpc>
                <a:spcPct val="150000"/>
              </a:lnSpc>
              <a:buFont typeface="Wingdings" panose="05000000000000000000" pitchFamily="2" charset="2"/>
              <a:buChar char="q"/>
            </a:pPr>
            <a:r>
              <a:rPr lang="en-US" sz="2800" b="1" dirty="0"/>
              <a:t>A Three-Page Event Report: 15%</a:t>
            </a:r>
          </a:p>
          <a:p>
            <a:pPr lvl="1">
              <a:buFont typeface="Wingdings" pitchFamily="2" charset="2"/>
              <a:buChar char="Ø"/>
            </a:pPr>
            <a:r>
              <a:rPr lang="en-US" sz="1600" dirty="0"/>
              <a:t>Submit it on Canvas by 10/30.</a:t>
            </a:r>
          </a:p>
          <a:p>
            <a:pPr lvl="1">
              <a:buFont typeface="Wingdings" pitchFamily="2" charset="2"/>
              <a:buChar char="Ø"/>
            </a:pPr>
            <a:r>
              <a:rPr lang="en-US" sz="1600" dirty="0"/>
              <a:t>Option to submit a revised version by 12/04.</a:t>
            </a:r>
          </a:p>
          <a:p>
            <a:pPr lvl="1">
              <a:buFont typeface="Wingdings" pitchFamily="2" charset="2"/>
              <a:buChar char="Ø"/>
            </a:pPr>
            <a:endParaRPr lang="en-US" sz="1900" dirty="0"/>
          </a:p>
        </p:txBody>
      </p:sp>
      <p:sp>
        <p:nvSpPr>
          <p:cNvPr id="2" name="Title 1"/>
          <p:cNvSpPr>
            <a:spLocks noGrp="1"/>
          </p:cNvSpPr>
          <p:nvPr>
            <p:ph type="title"/>
          </p:nvPr>
        </p:nvSpPr>
        <p:spPr/>
        <p:txBody>
          <a:bodyPr/>
          <a:lstStyle/>
          <a:p>
            <a:r>
              <a:rPr lang="en-US" dirty="0"/>
              <a:t>Assignments</a:t>
            </a:r>
          </a:p>
        </p:txBody>
      </p:sp>
    </p:spTree>
    <p:extLst>
      <p:ext uri="{BB962C8B-B14F-4D97-AF65-F5344CB8AC3E}">
        <p14:creationId xmlns:p14="http://schemas.microsoft.com/office/powerpoint/2010/main" val="287796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752600"/>
            <a:ext cx="7848600" cy="4800600"/>
          </a:xfrm>
        </p:spPr>
        <p:txBody>
          <a:bodyPr>
            <a:normAutofit/>
          </a:bodyPr>
          <a:lstStyle/>
          <a:p>
            <a:pPr>
              <a:buFont typeface="Wingdings" panose="05000000000000000000" pitchFamily="2" charset="2"/>
              <a:buChar char="q"/>
            </a:pPr>
            <a:r>
              <a:rPr lang="en-US" sz="2600" dirty="0"/>
              <a:t>Readings required for each class &amp; do readings before class.</a:t>
            </a:r>
          </a:p>
          <a:p>
            <a:pPr>
              <a:buFont typeface="Wingdings" panose="05000000000000000000" pitchFamily="2" charset="2"/>
              <a:buChar char="q"/>
            </a:pPr>
            <a:endParaRPr lang="en-US" sz="800" dirty="0"/>
          </a:p>
          <a:p>
            <a:pPr>
              <a:buFont typeface="Wingdings" panose="05000000000000000000" pitchFamily="2" charset="2"/>
              <a:buChar char="q"/>
            </a:pPr>
            <a:r>
              <a:rPr lang="en-US" sz="2600" dirty="0"/>
              <a:t>Textbook:</a:t>
            </a:r>
          </a:p>
          <a:p>
            <a:pPr lvl="1">
              <a:spcBef>
                <a:spcPts val="0"/>
              </a:spcBef>
              <a:buFont typeface="Wingdings" pitchFamily="2" charset="2"/>
              <a:buChar char="Ø"/>
            </a:pPr>
            <a:r>
              <a:rPr lang="en-US" sz="1800" dirty="0">
                <a:ea typeface="SimSun" panose="02010600030101010101" pitchFamily="2" charset="-122"/>
                <a:cs typeface="Times New Roman" panose="02020603050405020304" pitchFamily="18" charset="0"/>
              </a:rPr>
              <a:t>Frieden, Jeffry A., David A. Lake, Kenneth A. Schultz, Susan D. Hyde, and Stephanie J. Rickard. 2026. </a:t>
            </a:r>
            <a:r>
              <a:rPr lang="en-US" sz="1800" i="1" dirty="0">
                <a:ea typeface="SimSun" panose="02010600030101010101" pitchFamily="2" charset="-122"/>
                <a:cs typeface="Times New Roman" panose="02020603050405020304" pitchFamily="18" charset="0"/>
              </a:rPr>
              <a:t>World Politics: Interests, Interactions, and Institutions</a:t>
            </a:r>
            <a:r>
              <a:rPr lang="en-US" sz="1800" dirty="0">
                <a:ea typeface="SimSun" panose="02010600030101010101" pitchFamily="2" charset="-122"/>
                <a:cs typeface="Times New Roman" panose="02020603050405020304" pitchFamily="18" charset="0"/>
              </a:rPr>
              <a:t>. 6th ed. W. W. Norton &amp; Company. </a:t>
            </a:r>
            <a:endParaRPr lang="en-US" sz="1800" dirty="0">
              <a:effectLst/>
              <a:ea typeface="SimSun" panose="02010600030101010101" pitchFamily="2" charset="-122"/>
              <a:cs typeface="Times New Roman" panose="02020603050405020304" pitchFamily="18" charset="0"/>
            </a:endParaRPr>
          </a:p>
          <a:p>
            <a:pPr lvl="3">
              <a:buFont typeface="Wingdings" panose="05000000000000000000" pitchFamily="2" charset="2"/>
              <a:buChar char="v"/>
            </a:pPr>
            <a:r>
              <a:rPr lang="en-US" dirty="0" err="1"/>
              <a:t>Ebook</a:t>
            </a:r>
            <a:r>
              <a:rPr lang="en-US" dirty="0"/>
              <a:t> available via Penn State library</a:t>
            </a:r>
          </a:p>
          <a:p>
            <a:pPr lvl="3">
              <a:buFont typeface="Wingdings" panose="05000000000000000000" pitchFamily="2" charset="2"/>
              <a:buChar char="v"/>
            </a:pPr>
            <a:r>
              <a:rPr lang="en-US" dirty="0"/>
              <a:t>Available for purchase at the Penn State Bookstore</a:t>
            </a:r>
          </a:p>
          <a:p>
            <a:pPr>
              <a:buFont typeface="Wingdings" panose="05000000000000000000" pitchFamily="2" charset="2"/>
              <a:buChar char="q"/>
            </a:pPr>
            <a:endParaRPr lang="en-US" sz="800" dirty="0"/>
          </a:p>
          <a:p>
            <a:pPr>
              <a:buFont typeface="Wingdings" panose="05000000000000000000" pitchFamily="2" charset="2"/>
              <a:buChar char="q"/>
            </a:pPr>
            <a:r>
              <a:rPr lang="en-US" sz="2600" dirty="0"/>
              <a:t>Other readings will be posted on Canvas.</a:t>
            </a:r>
          </a:p>
          <a:p>
            <a:endParaRPr lang="en-US" dirty="0"/>
          </a:p>
        </p:txBody>
      </p:sp>
      <p:sp>
        <p:nvSpPr>
          <p:cNvPr id="2" name="Title 1"/>
          <p:cNvSpPr>
            <a:spLocks noGrp="1"/>
          </p:cNvSpPr>
          <p:nvPr>
            <p:ph type="title"/>
          </p:nvPr>
        </p:nvSpPr>
        <p:spPr/>
        <p:txBody>
          <a:bodyPr/>
          <a:lstStyle/>
          <a:p>
            <a:r>
              <a:rPr lang="en-US" dirty="0"/>
              <a:t>Readings</a:t>
            </a:r>
          </a:p>
        </p:txBody>
      </p:sp>
    </p:spTree>
    <p:extLst>
      <p:ext uri="{BB962C8B-B14F-4D97-AF65-F5344CB8AC3E}">
        <p14:creationId xmlns:p14="http://schemas.microsoft.com/office/powerpoint/2010/main" val="353847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676400"/>
            <a:ext cx="8153400" cy="5029200"/>
          </a:xfrm>
        </p:spPr>
        <p:txBody>
          <a:bodyPr/>
          <a:lstStyle/>
          <a:p>
            <a:pPr>
              <a:buFont typeface="Wingdings" panose="05000000000000000000" pitchFamily="2" charset="2"/>
              <a:buChar char="q"/>
            </a:pPr>
            <a:r>
              <a:rPr lang="en-US" b="1" dirty="0"/>
              <a:t>No extensions </a:t>
            </a:r>
            <a:r>
              <a:rPr lang="en-US" dirty="0"/>
              <a:t>on assignments except in circumstances permitted by university policies.</a:t>
            </a:r>
          </a:p>
          <a:p>
            <a:pPr lvl="1">
              <a:buFont typeface="Wingdings" pitchFamily="2" charset="2"/>
              <a:buChar char="Ø"/>
            </a:pPr>
            <a:endParaRPr lang="en-US" sz="800" dirty="0"/>
          </a:p>
          <a:p>
            <a:pPr>
              <a:buFont typeface="Wingdings" panose="05000000000000000000" pitchFamily="2" charset="2"/>
              <a:buChar char="q"/>
            </a:pPr>
            <a:r>
              <a:rPr lang="en-US" b="1" dirty="0"/>
              <a:t>Late Policy: </a:t>
            </a:r>
            <a:r>
              <a:rPr lang="en-US" dirty="0"/>
              <a:t>20% grade reduction for each day your paper turned in late.</a:t>
            </a:r>
          </a:p>
          <a:p>
            <a:pPr lvl="1">
              <a:buFont typeface="Wingdings" pitchFamily="2" charset="2"/>
              <a:buChar char="Ø"/>
            </a:pPr>
            <a:r>
              <a:rPr lang="en-US" sz="2000" dirty="0"/>
              <a:t>0 grade after 5 days</a:t>
            </a:r>
          </a:p>
          <a:p>
            <a:pPr lvl="1">
              <a:buFont typeface="Wingdings" pitchFamily="2" charset="2"/>
              <a:buChar char="Ø"/>
            </a:pPr>
            <a:endParaRPr lang="en-US" sz="800" dirty="0"/>
          </a:p>
          <a:p>
            <a:pPr marL="388620" indent="-342900">
              <a:buFont typeface="Wingdings" panose="05000000000000000000" pitchFamily="2" charset="2"/>
              <a:buChar char="q"/>
            </a:pPr>
            <a:r>
              <a:rPr lang="en-US" b="1" dirty="0"/>
              <a:t>Grade Scale:</a:t>
            </a:r>
          </a:p>
          <a:p>
            <a:pPr marL="388620" indent="-342900">
              <a:buFont typeface="Wingdings" panose="05000000000000000000" pitchFamily="2" charset="2"/>
              <a:buChar char="q"/>
            </a:pPr>
            <a:endParaRPr lang="en-US" b="1" dirty="0"/>
          </a:p>
          <a:p>
            <a:pPr marL="388620" indent="-342900">
              <a:buFont typeface="Wingdings" panose="05000000000000000000" pitchFamily="2" charset="2"/>
              <a:buChar char="q"/>
            </a:pPr>
            <a:endParaRPr lang="en-US" b="1" dirty="0"/>
          </a:p>
          <a:p>
            <a:pPr marL="388620" indent="-342900">
              <a:buFont typeface="Wingdings" panose="05000000000000000000" pitchFamily="2" charset="2"/>
              <a:buChar char="q"/>
            </a:pPr>
            <a:endParaRPr lang="en-US" b="1" dirty="0"/>
          </a:p>
          <a:p>
            <a:pPr marL="388620" indent="-342900">
              <a:buFont typeface="Wingdings" panose="05000000000000000000" pitchFamily="2" charset="2"/>
              <a:buChar char="q"/>
            </a:pPr>
            <a:r>
              <a:rPr lang="en-US" b="1" dirty="0"/>
              <a:t>Accommodations</a:t>
            </a:r>
          </a:p>
          <a:p>
            <a:pPr marL="690563" lvl="1" indent="-342900">
              <a:buFont typeface="Wingdings" pitchFamily="2" charset="2"/>
              <a:buChar char="Ø"/>
            </a:pPr>
            <a:r>
              <a:rPr lang="en-US" sz="2000" dirty="0"/>
              <a:t>TAs will collect requests via a survey link.</a:t>
            </a:r>
          </a:p>
        </p:txBody>
      </p:sp>
      <p:sp>
        <p:nvSpPr>
          <p:cNvPr id="2" name="Title 1"/>
          <p:cNvSpPr>
            <a:spLocks noGrp="1"/>
          </p:cNvSpPr>
          <p:nvPr>
            <p:ph type="title"/>
          </p:nvPr>
        </p:nvSpPr>
        <p:spPr/>
        <p:txBody>
          <a:bodyPr>
            <a:normAutofit/>
          </a:bodyPr>
          <a:lstStyle/>
          <a:p>
            <a:r>
              <a:rPr lang="en-US" dirty="0"/>
              <a:t>Grading &amp; Class Policies</a:t>
            </a:r>
          </a:p>
        </p:txBody>
      </p:sp>
      <p:graphicFrame>
        <p:nvGraphicFramePr>
          <p:cNvPr id="5" name="Table 4"/>
          <p:cNvGraphicFramePr>
            <a:graphicFrameLocks noGrp="1"/>
          </p:cNvGraphicFramePr>
          <p:nvPr>
            <p:extLst>
              <p:ext uri="{D42A27DB-BD31-4B8C-83A1-F6EECF244321}">
                <p14:modId xmlns:p14="http://schemas.microsoft.com/office/powerpoint/2010/main" val="868403870"/>
              </p:ext>
            </p:extLst>
          </p:nvPr>
        </p:nvGraphicFramePr>
        <p:xfrm>
          <a:off x="4038600" y="4038600"/>
          <a:ext cx="3810000" cy="1676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0">
                <a:tc>
                  <a:txBody>
                    <a:bodyPr/>
                    <a:lstStyle/>
                    <a:p>
                      <a:r>
                        <a:rPr kumimoji="0" lang="en-US" sz="1600" b="0" kern="1200" dirty="0">
                          <a:solidFill>
                            <a:schemeClr val="tx1"/>
                          </a:solidFill>
                          <a:effectLst/>
                          <a:latin typeface="+mn-lt"/>
                          <a:ea typeface="+mn-ea"/>
                          <a:cs typeface="+mn-cs"/>
                        </a:rPr>
                        <a:t>A: 93</a:t>
                      </a:r>
                      <a:r>
                        <a:rPr kumimoji="0" lang="en-US" sz="1600" b="1" kern="1200" dirty="0">
                          <a:solidFill>
                            <a:schemeClr val="tx1"/>
                          </a:solidFill>
                          <a:effectLst/>
                          <a:latin typeface="+mn-lt"/>
                          <a:ea typeface="+mn-ea"/>
                          <a:cs typeface="+mn-cs"/>
                        </a:rPr>
                        <a:t>–</a:t>
                      </a:r>
                      <a:r>
                        <a:rPr kumimoji="0" lang="en-US" sz="1600" b="0" kern="1200" dirty="0">
                          <a:solidFill>
                            <a:schemeClr val="tx1"/>
                          </a:solidFill>
                          <a:effectLst/>
                          <a:latin typeface="+mn-lt"/>
                          <a:ea typeface="+mn-ea"/>
                          <a:cs typeface="+mn-cs"/>
                        </a:rPr>
                        <a:t>100</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kern="1200" dirty="0">
                          <a:solidFill>
                            <a:schemeClr val="tx1"/>
                          </a:solidFill>
                          <a:effectLst/>
                          <a:latin typeface="+mn-lt"/>
                          <a:ea typeface="+mn-ea"/>
                          <a:cs typeface="+mn-cs"/>
                        </a:rPr>
                        <a:t>C+: 77</a:t>
                      </a:r>
                      <a:r>
                        <a:rPr kumimoji="0" lang="en-US" sz="1600" b="1" kern="1200" dirty="0">
                          <a:solidFill>
                            <a:schemeClr val="tx1"/>
                          </a:solidFill>
                          <a:effectLst/>
                          <a:latin typeface="+mn-lt"/>
                          <a:ea typeface="+mn-ea"/>
                          <a:cs typeface="+mn-cs"/>
                        </a:rPr>
                        <a:t>–</a:t>
                      </a:r>
                      <a:r>
                        <a:rPr kumimoji="0" lang="en-US" sz="1600" b="0" kern="1200" dirty="0">
                          <a:solidFill>
                            <a:schemeClr val="tx1"/>
                          </a:solidFill>
                          <a:effectLst/>
                          <a:latin typeface="+mn-lt"/>
                          <a:ea typeface="+mn-ea"/>
                          <a:cs typeface="+mn-cs"/>
                        </a:rPr>
                        <a:t>79</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0">
                <a:tc>
                  <a:txBody>
                    <a:bodyPr/>
                    <a:lstStyle/>
                    <a:p>
                      <a:r>
                        <a:rPr kumimoji="0" lang="en-US" sz="1600" b="0" kern="1200" dirty="0">
                          <a:solidFill>
                            <a:schemeClr val="dk1"/>
                          </a:solidFill>
                          <a:effectLst/>
                          <a:latin typeface="+mn-lt"/>
                          <a:ea typeface="+mn-ea"/>
                          <a:cs typeface="+mn-cs"/>
                        </a:rPr>
                        <a:t>A-: 90</a:t>
                      </a:r>
                      <a:r>
                        <a:rPr kumimoji="0" lang="en-US" sz="1600" b="1" kern="1200" dirty="0">
                          <a:solidFill>
                            <a:schemeClr val="tx1"/>
                          </a:solidFill>
                          <a:effectLst/>
                          <a:latin typeface="+mn-lt"/>
                          <a:ea typeface="+mn-ea"/>
                          <a:cs typeface="+mn-cs"/>
                        </a:rPr>
                        <a:t>–</a:t>
                      </a:r>
                      <a:r>
                        <a:rPr kumimoji="0" lang="en-US" sz="1600" b="0" kern="1200" dirty="0">
                          <a:solidFill>
                            <a:schemeClr val="dk1"/>
                          </a:solidFill>
                          <a:effectLst/>
                          <a:latin typeface="+mn-lt"/>
                          <a:ea typeface="+mn-ea"/>
                          <a:cs typeface="+mn-cs"/>
                        </a:rPr>
                        <a:t>92</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spcBef>
                          <a:spcPts val="0"/>
                        </a:spcBef>
                        <a:spcAft>
                          <a:spcPts val="0"/>
                        </a:spcAft>
                      </a:pPr>
                      <a:r>
                        <a:rPr lang="en-US" sz="1600" b="0" dirty="0">
                          <a:effectLst/>
                          <a:latin typeface="+mn-lt"/>
                          <a:ea typeface="SimSun"/>
                          <a:cs typeface="Times New Roman"/>
                        </a:rPr>
                        <a:t>C: 70</a:t>
                      </a:r>
                      <a:r>
                        <a:rPr kumimoji="0" lang="en-US" sz="1600" b="1" kern="1200" dirty="0">
                          <a:solidFill>
                            <a:schemeClr val="tx1"/>
                          </a:solidFill>
                          <a:effectLst/>
                          <a:latin typeface="+mn-lt"/>
                          <a:ea typeface="+mn-ea"/>
                          <a:cs typeface="+mn-cs"/>
                        </a:rPr>
                        <a:t>–</a:t>
                      </a:r>
                      <a:r>
                        <a:rPr lang="en-US" sz="1600" b="0" dirty="0">
                          <a:effectLst/>
                          <a:latin typeface="+mn-lt"/>
                          <a:ea typeface="SimSun"/>
                          <a:cs typeface="Times New Roman"/>
                        </a:rPr>
                        <a:t>76</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r>
                        <a:rPr kumimoji="0" lang="en-US" sz="1600" b="0" kern="1200" dirty="0">
                          <a:solidFill>
                            <a:schemeClr val="dk1"/>
                          </a:solidFill>
                          <a:effectLst/>
                          <a:latin typeface="+mn-lt"/>
                          <a:ea typeface="+mn-ea"/>
                          <a:cs typeface="+mn-cs"/>
                        </a:rPr>
                        <a:t>B+: 87</a:t>
                      </a:r>
                      <a:r>
                        <a:rPr kumimoji="0" lang="en-US" sz="1600" b="1" kern="1200" dirty="0">
                          <a:solidFill>
                            <a:schemeClr val="tx1"/>
                          </a:solidFill>
                          <a:effectLst/>
                          <a:latin typeface="+mn-lt"/>
                          <a:ea typeface="+mn-ea"/>
                          <a:cs typeface="+mn-cs"/>
                        </a:rPr>
                        <a:t>–</a:t>
                      </a:r>
                      <a:r>
                        <a:rPr kumimoji="0" lang="en-US" sz="1600" b="0" kern="1200" dirty="0">
                          <a:solidFill>
                            <a:schemeClr val="dk1"/>
                          </a:solidFill>
                          <a:effectLst/>
                          <a:latin typeface="+mn-lt"/>
                          <a:ea typeface="+mn-ea"/>
                          <a:cs typeface="+mn-cs"/>
                        </a:rPr>
                        <a:t>89</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kern="1200" dirty="0">
                          <a:solidFill>
                            <a:schemeClr val="dk1"/>
                          </a:solidFill>
                          <a:effectLst/>
                          <a:latin typeface="+mn-lt"/>
                          <a:ea typeface="+mn-ea"/>
                          <a:cs typeface="+mn-cs"/>
                        </a:rPr>
                        <a:t>D: 60</a:t>
                      </a:r>
                      <a:r>
                        <a:rPr kumimoji="0" lang="en-US" sz="1600" b="1" kern="1200" dirty="0">
                          <a:solidFill>
                            <a:schemeClr val="tx1"/>
                          </a:solidFill>
                          <a:effectLst/>
                          <a:latin typeface="+mn-lt"/>
                          <a:ea typeface="+mn-ea"/>
                          <a:cs typeface="+mn-cs"/>
                        </a:rPr>
                        <a:t>–</a:t>
                      </a:r>
                      <a:r>
                        <a:rPr kumimoji="0" lang="en-US" sz="1600" b="0" kern="1200" dirty="0">
                          <a:solidFill>
                            <a:schemeClr val="dk1"/>
                          </a:solidFill>
                          <a:effectLst/>
                          <a:latin typeface="+mn-lt"/>
                          <a:ea typeface="+mn-ea"/>
                          <a:cs typeface="+mn-cs"/>
                        </a:rPr>
                        <a:t>69</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r>
                        <a:rPr kumimoji="0" lang="en-US" sz="1600" b="0" kern="1200" dirty="0">
                          <a:solidFill>
                            <a:schemeClr val="dk1"/>
                          </a:solidFill>
                          <a:effectLst/>
                          <a:latin typeface="+mn-lt"/>
                          <a:ea typeface="+mn-ea"/>
                          <a:cs typeface="+mn-cs"/>
                        </a:rPr>
                        <a:t>B: 83</a:t>
                      </a:r>
                      <a:r>
                        <a:rPr kumimoji="0" lang="en-US" sz="1600" b="1" kern="1200" dirty="0">
                          <a:solidFill>
                            <a:schemeClr val="tx1"/>
                          </a:solidFill>
                          <a:effectLst/>
                          <a:latin typeface="+mn-lt"/>
                          <a:ea typeface="+mn-ea"/>
                          <a:cs typeface="+mn-cs"/>
                        </a:rPr>
                        <a:t>–</a:t>
                      </a:r>
                      <a:r>
                        <a:rPr kumimoji="0" lang="en-US" sz="1600" b="0" kern="1200" dirty="0">
                          <a:solidFill>
                            <a:schemeClr val="dk1"/>
                          </a:solidFill>
                          <a:effectLst/>
                          <a:latin typeface="+mn-lt"/>
                          <a:ea typeface="+mn-ea"/>
                          <a:cs typeface="+mn-cs"/>
                        </a:rPr>
                        <a:t>86</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kern="1200" dirty="0">
                          <a:solidFill>
                            <a:schemeClr val="dk1"/>
                          </a:solidFill>
                          <a:effectLst/>
                          <a:latin typeface="+mn-lt"/>
                          <a:ea typeface="+mn-ea"/>
                          <a:cs typeface="+mn-cs"/>
                        </a:rPr>
                        <a:t>F: below 60</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r>
                        <a:rPr kumimoji="0" lang="en-US" sz="1600" b="0" kern="1200" dirty="0">
                          <a:solidFill>
                            <a:schemeClr val="dk1"/>
                          </a:solidFill>
                          <a:effectLst/>
                          <a:latin typeface="+mn-lt"/>
                          <a:ea typeface="+mn-ea"/>
                          <a:cs typeface="+mn-cs"/>
                        </a:rPr>
                        <a:t>B-: 80</a:t>
                      </a:r>
                      <a:r>
                        <a:rPr kumimoji="0" lang="en-US" sz="1600" b="1" kern="1200" dirty="0">
                          <a:solidFill>
                            <a:schemeClr val="tx1"/>
                          </a:solidFill>
                          <a:effectLst/>
                          <a:latin typeface="+mn-lt"/>
                          <a:ea typeface="+mn-ea"/>
                          <a:cs typeface="+mn-cs"/>
                        </a:rPr>
                        <a:t>–</a:t>
                      </a:r>
                      <a:r>
                        <a:rPr kumimoji="0" lang="en-US" sz="1600" b="0" kern="1200" dirty="0">
                          <a:solidFill>
                            <a:schemeClr val="dk1"/>
                          </a:solidFill>
                          <a:effectLst/>
                          <a:latin typeface="+mn-lt"/>
                          <a:ea typeface="+mn-ea"/>
                          <a:cs typeface="+mn-cs"/>
                        </a:rPr>
                        <a:t>82</a:t>
                      </a:r>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6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202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761458-FE69-474F-9E92-5FFD00267CD3}"/>
              </a:ext>
            </a:extLst>
          </p:cNvPr>
          <p:cNvSpPr>
            <a:spLocks noGrp="1"/>
          </p:cNvSpPr>
          <p:nvPr>
            <p:ph idx="1"/>
          </p:nvPr>
        </p:nvSpPr>
        <p:spPr>
          <a:xfrm>
            <a:off x="872067" y="2286000"/>
            <a:ext cx="7408333" cy="3450696"/>
          </a:xfrm>
        </p:spPr>
        <p:txBody>
          <a:bodyPr>
            <a:normAutofit/>
          </a:bodyPr>
          <a:lstStyle/>
          <a:p>
            <a:pPr>
              <a:buFont typeface="Wingdings" panose="05000000000000000000" pitchFamily="2" charset="2"/>
              <a:buChar char="q"/>
            </a:pPr>
            <a:r>
              <a:rPr lang="en-US" dirty="0"/>
              <a:t>Instructor’s Office Hours</a:t>
            </a:r>
          </a:p>
          <a:p>
            <a:pPr lvl="1">
              <a:buFont typeface="Wingdings" panose="05000000000000000000" pitchFamily="2" charset="2"/>
              <a:buChar char="Ø"/>
            </a:pPr>
            <a:r>
              <a:rPr lang="en-US" sz="2000" dirty="0"/>
              <a:t>Tue 1:00–2:30PM or by appointment</a:t>
            </a:r>
          </a:p>
          <a:p>
            <a:pPr lvl="1">
              <a:buFont typeface="Wingdings" panose="05000000000000000000" pitchFamily="2" charset="2"/>
              <a:buChar char="Ø"/>
            </a:pPr>
            <a:r>
              <a:rPr lang="en-US" sz="2000" dirty="0"/>
              <a:t>430 SWLAB</a:t>
            </a:r>
          </a:p>
          <a:p>
            <a:endParaRPr lang="en-US" dirty="0"/>
          </a:p>
          <a:p>
            <a:pPr>
              <a:buFont typeface="Wingdings" pitchFamily="2" charset="2"/>
              <a:buChar char="q"/>
            </a:pPr>
            <a:r>
              <a:rPr lang="en-US" dirty="0"/>
              <a:t>TAs’ Office Hours (TBA)</a:t>
            </a:r>
          </a:p>
          <a:p>
            <a:pPr lvl="1">
              <a:buFont typeface="Wingdings" pitchFamily="2" charset="2"/>
              <a:buChar char="Ø"/>
            </a:pPr>
            <a:r>
              <a:rPr lang="en-US" sz="2000" dirty="0" err="1"/>
              <a:t>Songtao</a:t>
            </a:r>
            <a:r>
              <a:rPr lang="en-US" sz="2000" dirty="0"/>
              <a:t> Duan</a:t>
            </a:r>
          </a:p>
          <a:p>
            <a:pPr lvl="1">
              <a:buFont typeface="Wingdings" pitchFamily="2" charset="2"/>
              <a:buChar char="Ø"/>
            </a:pPr>
            <a:r>
              <a:rPr lang="en-US" sz="2000" dirty="0" err="1"/>
              <a:t>Yunfan</a:t>
            </a:r>
            <a:r>
              <a:rPr lang="en-US" sz="2000" dirty="0"/>
              <a:t> Ling</a:t>
            </a:r>
          </a:p>
          <a:p>
            <a:pPr lvl="1">
              <a:buFont typeface="Wingdings" pitchFamily="2" charset="2"/>
              <a:buChar char="Ø"/>
            </a:pPr>
            <a:r>
              <a:rPr lang="en-US" sz="2000"/>
              <a:t>Joshua Toy</a:t>
            </a:r>
          </a:p>
          <a:p>
            <a:pPr lvl="1">
              <a:buFont typeface="Wingdings" pitchFamily="2" charset="2"/>
              <a:buChar char="Ø"/>
            </a:pPr>
            <a:endParaRPr lang="en-US" sz="2000" dirty="0"/>
          </a:p>
        </p:txBody>
      </p:sp>
      <p:sp>
        <p:nvSpPr>
          <p:cNvPr id="3" name="Title 2">
            <a:extLst>
              <a:ext uri="{FF2B5EF4-FFF2-40B4-BE49-F238E27FC236}">
                <a16:creationId xmlns:a16="http://schemas.microsoft.com/office/drawing/2014/main" id="{2C3F5771-9287-448D-AE7C-3DA74C2BD400}"/>
              </a:ext>
            </a:extLst>
          </p:cNvPr>
          <p:cNvSpPr>
            <a:spLocks noGrp="1"/>
          </p:cNvSpPr>
          <p:nvPr>
            <p:ph type="title"/>
          </p:nvPr>
        </p:nvSpPr>
        <p:spPr/>
        <p:txBody>
          <a:bodyPr/>
          <a:lstStyle/>
          <a:p>
            <a:r>
              <a:rPr lang="en-US" dirty="0"/>
              <a:t>Office Hours</a:t>
            </a:r>
          </a:p>
        </p:txBody>
      </p:sp>
    </p:spTree>
    <p:extLst>
      <p:ext uri="{BB962C8B-B14F-4D97-AF65-F5344CB8AC3E}">
        <p14:creationId xmlns:p14="http://schemas.microsoft.com/office/powerpoint/2010/main" val="407024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305800" cy="4690872"/>
          </a:xfrm>
        </p:spPr>
        <p:txBody>
          <a:bodyPr>
            <a:normAutofit fontScale="55000" lnSpcReduction="20000"/>
          </a:bodyPr>
          <a:lstStyle/>
          <a:p>
            <a:pPr marL="0" indent="0">
              <a:buNone/>
            </a:pPr>
            <a:endParaRPr lang="en-US" dirty="0"/>
          </a:p>
          <a:p>
            <a:pPr>
              <a:buFont typeface="Wingdings" pitchFamily="2" charset="2"/>
              <a:buChar char="q"/>
            </a:pPr>
            <a:r>
              <a:rPr lang="en-US" sz="3200" dirty="0"/>
              <a:t>Students with questions about academic integrity should visit </a:t>
            </a:r>
            <a:r>
              <a:rPr lang="en-US" sz="3200" u="sng" dirty="0">
                <a:hlinkClick r:id="rId2"/>
              </a:rPr>
              <a:t>http://www.la.psu.edu/</a:t>
            </a:r>
            <a:r>
              <a:rPr lang="en-US" sz="3200" dirty="0"/>
              <a:t> and then click on “Academic Integrity.” </a:t>
            </a:r>
          </a:p>
          <a:p>
            <a:pPr>
              <a:buFont typeface="Wingdings" pitchFamily="2" charset="2"/>
              <a:buChar char="q"/>
            </a:pPr>
            <a:endParaRPr lang="en-US" sz="3200" dirty="0"/>
          </a:p>
          <a:p>
            <a:pPr>
              <a:buFont typeface="Wingdings" pitchFamily="2" charset="2"/>
              <a:buChar char="q"/>
            </a:pPr>
            <a:r>
              <a:rPr lang="en-US" sz="3200" dirty="0"/>
              <a:t>Penn State defines academic integrity as “the pursuit of scholarly activity in an open, honest and responsible manner” (</a:t>
            </a:r>
            <a:r>
              <a:rPr lang="en-US" sz="3200" u="sng" dirty="0">
                <a:hlinkClick r:id="rId3"/>
              </a:rPr>
              <a:t>Senate Policy 49-20</a:t>
            </a:r>
            <a:r>
              <a:rPr lang="en-US" sz="3200" dirty="0"/>
              <a:t>). Dishonesty of any kind will not be tolerated in this course. Dishonesty includes, but is not limited to, cheating, plagiarizing, fabricating information or citations, facilitating acts of academic dishonesty by others, having unauthorized possession of examinations, submitting work of another person or work previously used without permission from the instructor, or tampering with the academic work of other students. Students facing allegations of academic misconduct should not drop the course; those who do will be added to the course again and will be expected to complete course work and meet course deadlines. If the allegations are dismissed, then the drop will be permitted. Students found responsible for academic misconduct often receive academic sanctions, which can be severe, and put themselves at risk for disciplinary sanctions assigned by the University's Office of Student Conduct (see </a:t>
            </a:r>
            <a:r>
              <a:rPr lang="en-US" sz="3200" u="sng" dirty="0">
                <a:hlinkClick r:id="rId4"/>
              </a:rPr>
              <a:t>Senate Policy G-9</a:t>
            </a:r>
            <a:r>
              <a:rPr lang="en-US" sz="3200" dirty="0"/>
              <a:t>).</a:t>
            </a:r>
          </a:p>
        </p:txBody>
      </p:sp>
      <p:sp>
        <p:nvSpPr>
          <p:cNvPr id="2" name="Title 1"/>
          <p:cNvSpPr>
            <a:spLocks noGrp="1"/>
          </p:cNvSpPr>
          <p:nvPr>
            <p:ph type="title"/>
          </p:nvPr>
        </p:nvSpPr>
        <p:spPr/>
        <p:txBody>
          <a:bodyPr>
            <a:normAutofit/>
          </a:bodyPr>
          <a:lstStyle/>
          <a:p>
            <a:r>
              <a:rPr lang="en-US" dirty="0"/>
              <a:t>Academic Dishonesty</a:t>
            </a:r>
          </a:p>
        </p:txBody>
      </p:sp>
    </p:spTree>
    <p:extLst>
      <p:ext uri="{BB962C8B-B14F-4D97-AF65-F5344CB8AC3E}">
        <p14:creationId xmlns:p14="http://schemas.microsoft.com/office/powerpoint/2010/main" val="1186910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9524BD-8A94-9A7A-D70F-8AA8B3F93B1F}"/>
              </a:ext>
            </a:extLst>
          </p:cNvPr>
          <p:cNvSpPr>
            <a:spLocks noGrp="1"/>
          </p:cNvSpPr>
          <p:nvPr>
            <p:ph idx="1"/>
          </p:nvPr>
        </p:nvSpPr>
        <p:spPr>
          <a:xfrm>
            <a:off x="762001" y="2209800"/>
            <a:ext cx="7620000" cy="4038600"/>
          </a:xfrm>
        </p:spPr>
        <p:txBody>
          <a:bodyPr>
            <a:normAutofit fontScale="92500" lnSpcReduction="10000"/>
          </a:bodyPr>
          <a:lstStyle/>
          <a:p>
            <a:pPr>
              <a:buFont typeface="Wingdings" pitchFamily="2" charset="2"/>
              <a:buChar char="q"/>
            </a:pPr>
            <a:r>
              <a:rPr lang="en-US" sz="2200" dirty="0"/>
              <a:t>Students may not use generative AI tools to complete multiple-choice, matching, fill-in the blank, open-ended, or essay exam questions. </a:t>
            </a:r>
          </a:p>
          <a:p>
            <a:pPr>
              <a:buFont typeface="Wingdings" pitchFamily="2" charset="2"/>
              <a:buChar char="q"/>
            </a:pPr>
            <a:endParaRPr lang="en-US" sz="2200" dirty="0"/>
          </a:p>
          <a:p>
            <a:pPr>
              <a:buFont typeface="Wingdings" pitchFamily="2" charset="2"/>
              <a:buChar char="q"/>
            </a:pPr>
            <a:r>
              <a:rPr lang="en-US" sz="2200" dirty="0"/>
              <a:t>Students may use generative AI tools to </a:t>
            </a:r>
            <a:r>
              <a:rPr lang="en-US" sz="2200" b="1" i="1" dirty="0"/>
              <a:t>brainstorm ideas, to create an outline or headings for their paper, and to improve their use of grammar</a:t>
            </a:r>
            <a:r>
              <a:rPr lang="en-US" sz="2200" dirty="0"/>
              <a:t>. Other uses of generative AI tools are prohibited. This includes the use of AI tools to create content for coursework, including the AI tools embedded in Grammarly. Students must also list the AI tools they’ve used as a “Sourced Tool” at the end of the paper or project. This policy applies to the use of all generative AI tools, including ChatGPT, Grammarly, Copilot, and other artificially intelligent tools provided by the university.</a:t>
            </a:r>
          </a:p>
          <a:p>
            <a:endParaRPr lang="en-US" dirty="0"/>
          </a:p>
        </p:txBody>
      </p:sp>
      <p:sp>
        <p:nvSpPr>
          <p:cNvPr id="3" name="Title 2">
            <a:extLst>
              <a:ext uri="{FF2B5EF4-FFF2-40B4-BE49-F238E27FC236}">
                <a16:creationId xmlns:a16="http://schemas.microsoft.com/office/drawing/2014/main" id="{7AE57F98-9BC6-4BAE-D270-8BBE2D45D86B}"/>
              </a:ext>
            </a:extLst>
          </p:cNvPr>
          <p:cNvSpPr>
            <a:spLocks noGrp="1"/>
          </p:cNvSpPr>
          <p:nvPr>
            <p:ph type="title"/>
          </p:nvPr>
        </p:nvSpPr>
        <p:spPr/>
        <p:txBody>
          <a:bodyPr>
            <a:normAutofit fontScale="90000"/>
          </a:bodyPr>
          <a:lstStyle/>
          <a:p>
            <a:r>
              <a:rPr lang="en-US" dirty="0"/>
              <a:t>Students’ Use of Generative AI Tools</a:t>
            </a:r>
          </a:p>
        </p:txBody>
      </p:sp>
    </p:spTree>
    <p:extLst>
      <p:ext uri="{BB962C8B-B14F-4D97-AF65-F5344CB8AC3E}">
        <p14:creationId xmlns:p14="http://schemas.microsoft.com/office/powerpoint/2010/main" val="2564694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pPr marL="0" indent="0" algn="ctr">
              <a:buNone/>
            </a:pPr>
            <a:r>
              <a:rPr lang="en-US" sz="6000" dirty="0"/>
              <a:t>Questions?</a:t>
            </a:r>
          </a:p>
        </p:txBody>
      </p:sp>
    </p:spTree>
    <p:extLst>
      <p:ext uri="{BB962C8B-B14F-4D97-AF65-F5344CB8AC3E}">
        <p14:creationId xmlns:p14="http://schemas.microsoft.com/office/powerpoint/2010/main" val="1681610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Waveform</Template>
  <TotalTime>5279</TotalTime>
  <Words>912</Words>
  <Application>Microsoft Macintosh PowerPoint</Application>
  <PresentationFormat>On-screen Show (4:3)</PresentationFormat>
  <Paragraphs>116</Paragraphs>
  <Slides>13</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SimSun</vt:lpstr>
      <vt:lpstr>Candara</vt:lpstr>
      <vt:lpstr>Symbol</vt:lpstr>
      <vt:lpstr>Wingdings</vt:lpstr>
      <vt:lpstr>Waveform</vt:lpstr>
      <vt:lpstr>PLSC 14: International Relations</vt:lpstr>
      <vt:lpstr>What is International Relations (IR)?</vt:lpstr>
      <vt:lpstr>What is International Relations (IR)?</vt:lpstr>
      <vt:lpstr>What IR Studies? </vt:lpstr>
      <vt:lpstr>Some Examples of IR Scholarship</vt:lpstr>
      <vt:lpstr>Course Outline</vt:lpstr>
      <vt:lpstr>Assignments</vt:lpstr>
      <vt:lpstr>Readings</vt:lpstr>
      <vt:lpstr>Grading &amp; Class Policies</vt:lpstr>
      <vt:lpstr>Office Hours</vt:lpstr>
      <vt:lpstr>Academic Dishonesty</vt:lpstr>
      <vt:lpstr>Students’ Use of Generative AI Tools</vt:lpstr>
      <vt:lpstr>PowerPoint Presentation</vt:lpstr>
    </vt:vector>
  </TitlesOfParts>
  <Company>College of the Liberal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Boliang Zhu</dc:creator>
  <cp:lastModifiedBy>Zhu, Boliang</cp:lastModifiedBy>
  <cp:revision>184</cp:revision>
  <cp:lastPrinted>2012-09-03T14:27:47Z</cp:lastPrinted>
  <dcterms:created xsi:type="dcterms:W3CDTF">2012-08-26T23:14:14Z</dcterms:created>
  <dcterms:modified xsi:type="dcterms:W3CDTF">2026-08-26T13:04:43Z</dcterms:modified>
</cp:coreProperties>
</file>