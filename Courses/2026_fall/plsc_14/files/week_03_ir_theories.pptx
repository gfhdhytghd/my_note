
<file path=[Content_Types].xml><?xml version="1.0" encoding="utf-8"?>
<Types xmlns="http://schemas.openxmlformats.org/package/2006/content-types">
  <Default Extension="docx" ContentType="application/vnd.openxmlformats-officedocument.wordprocessingml.documen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notesMasterIdLst>
    <p:notesMasterId r:id="rId23"/>
  </p:notesMasterIdLst>
  <p:sldIdLst>
    <p:sldId id="256" r:id="rId2"/>
    <p:sldId id="452" r:id="rId3"/>
    <p:sldId id="457" r:id="rId4"/>
    <p:sldId id="257" r:id="rId5"/>
    <p:sldId id="258" r:id="rId6"/>
    <p:sldId id="267" r:id="rId7"/>
    <p:sldId id="265" r:id="rId8"/>
    <p:sldId id="453" r:id="rId9"/>
    <p:sldId id="454" r:id="rId10"/>
    <p:sldId id="465" r:id="rId11"/>
    <p:sldId id="455" r:id="rId12"/>
    <p:sldId id="458" r:id="rId13"/>
    <p:sldId id="261" r:id="rId14"/>
    <p:sldId id="459" r:id="rId15"/>
    <p:sldId id="262" r:id="rId16"/>
    <p:sldId id="460" r:id="rId17"/>
    <p:sldId id="461" r:id="rId18"/>
    <p:sldId id="462" r:id="rId19"/>
    <p:sldId id="463" r:id="rId20"/>
    <p:sldId id="464" r:id="rId21"/>
    <p:sldId id="451" r:id="rId22"/>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AD0BD-6B23-BE4B-87B1-D78F69200208}" v="11" dt="2026-09-08T01:57:11.3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33"/>
    <p:restoredTop sz="94726"/>
  </p:normalViewPr>
  <p:slideViewPr>
    <p:cSldViewPr>
      <p:cViewPr varScale="1">
        <p:scale>
          <a:sx n="120" d="100"/>
          <a:sy n="120" d="100"/>
        </p:scale>
        <p:origin x="2264"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 Boliang" userId="2807e975-b482-45f1-8aec-1c6c50fca21e" providerId="ADAL" clId="{3383B8EF-DC2A-543C-9364-0AEE61D2B73D}"/>
    <pc:docChg chg="undo custSel addSld modSld">
      <pc:chgData name="Zhu, Boliang" userId="2807e975-b482-45f1-8aec-1c6c50fca21e" providerId="ADAL" clId="{3383B8EF-DC2A-543C-9364-0AEE61D2B73D}" dt="2026-09-08T01:59:36.315" v="209" actId="1037"/>
      <pc:docMkLst>
        <pc:docMk/>
      </pc:docMkLst>
      <pc:sldChg chg="addSp modSp mod">
        <pc:chgData name="Zhu, Boliang" userId="2807e975-b482-45f1-8aec-1c6c50fca21e" providerId="ADAL" clId="{3383B8EF-DC2A-543C-9364-0AEE61D2B73D}" dt="2026-09-07T19:32:18.868" v="76" actId="164"/>
        <pc:sldMkLst>
          <pc:docMk/>
          <pc:sldMk cId="11462391" sldId="267"/>
        </pc:sldMkLst>
        <pc:spChg chg="mod">
          <ac:chgData name="Zhu, Boliang" userId="2807e975-b482-45f1-8aec-1c6c50fca21e" providerId="ADAL" clId="{3383B8EF-DC2A-543C-9364-0AEE61D2B73D}" dt="2026-09-07T19:31:08.058" v="43" actId="1035"/>
          <ac:spMkLst>
            <pc:docMk/>
            <pc:sldMk cId="11462391" sldId="267"/>
            <ac:spMk id="3" creationId="{1274DD20-5DC3-4BDC-8F85-5B57F797F5B7}"/>
          </ac:spMkLst>
        </pc:spChg>
        <pc:spChg chg="add mod">
          <ac:chgData name="Zhu, Boliang" userId="2807e975-b482-45f1-8aec-1c6c50fca21e" providerId="ADAL" clId="{3383B8EF-DC2A-543C-9364-0AEE61D2B73D}" dt="2026-09-07T19:32:18.868" v="76" actId="164"/>
          <ac:spMkLst>
            <pc:docMk/>
            <pc:sldMk cId="11462391" sldId="267"/>
            <ac:spMk id="4" creationId="{9A481DFC-1E76-4DBA-69B7-1275BAA515A0}"/>
          </ac:spMkLst>
        </pc:spChg>
        <pc:grpChg chg="add mod">
          <ac:chgData name="Zhu, Boliang" userId="2807e975-b482-45f1-8aec-1c6c50fca21e" providerId="ADAL" clId="{3383B8EF-DC2A-543C-9364-0AEE61D2B73D}" dt="2026-09-07T19:32:18.868" v="76" actId="164"/>
          <ac:grpSpMkLst>
            <pc:docMk/>
            <pc:sldMk cId="11462391" sldId="267"/>
            <ac:grpSpMk id="6" creationId="{22EE0929-F8EF-1947-908C-02CC1FF91934}"/>
          </ac:grpSpMkLst>
        </pc:grpChg>
        <pc:picChg chg="mod">
          <ac:chgData name="Zhu, Boliang" userId="2807e975-b482-45f1-8aec-1c6c50fca21e" providerId="ADAL" clId="{3383B8EF-DC2A-543C-9364-0AEE61D2B73D}" dt="2026-09-07T19:32:18.868" v="76" actId="164"/>
          <ac:picMkLst>
            <pc:docMk/>
            <pc:sldMk cId="11462391" sldId="267"/>
            <ac:picMk id="5" creationId="{16CCB571-D203-62A3-BA21-37A4BD6F6C7F}"/>
          </ac:picMkLst>
        </pc:picChg>
      </pc:sldChg>
      <pc:sldChg chg="addSp modSp mod">
        <pc:chgData name="Zhu, Boliang" userId="2807e975-b482-45f1-8aec-1c6c50fca21e" providerId="ADAL" clId="{3383B8EF-DC2A-543C-9364-0AEE61D2B73D}" dt="2026-09-07T19:33:43.885" v="98" actId="164"/>
        <pc:sldMkLst>
          <pc:docMk/>
          <pc:sldMk cId="2268483054" sldId="453"/>
        </pc:sldMkLst>
        <pc:spChg chg="add mod">
          <ac:chgData name="Zhu, Boliang" userId="2807e975-b482-45f1-8aec-1c6c50fca21e" providerId="ADAL" clId="{3383B8EF-DC2A-543C-9364-0AEE61D2B73D}" dt="2026-09-07T19:33:43.885" v="98" actId="164"/>
          <ac:spMkLst>
            <pc:docMk/>
            <pc:sldMk cId="2268483054" sldId="453"/>
            <ac:spMk id="4" creationId="{69E0D913-26E9-CC61-A257-E3C4EAF72DEA}"/>
          </ac:spMkLst>
        </pc:spChg>
        <pc:grpChg chg="add mod">
          <ac:chgData name="Zhu, Boliang" userId="2807e975-b482-45f1-8aec-1c6c50fca21e" providerId="ADAL" clId="{3383B8EF-DC2A-543C-9364-0AEE61D2B73D}" dt="2026-09-07T19:33:43.885" v="98" actId="164"/>
          <ac:grpSpMkLst>
            <pc:docMk/>
            <pc:sldMk cId="2268483054" sldId="453"/>
            <ac:grpSpMk id="6" creationId="{90164CE9-00E3-150F-89BB-2F4078F0FA2A}"/>
          </ac:grpSpMkLst>
        </pc:grpChg>
        <pc:picChg chg="mod">
          <ac:chgData name="Zhu, Boliang" userId="2807e975-b482-45f1-8aec-1c6c50fca21e" providerId="ADAL" clId="{3383B8EF-DC2A-543C-9364-0AEE61D2B73D}" dt="2026-09-07T19:33:43.885" v="98" actId="164"/>
          <ac:picMkLst>
            <pc:docMk/>
            <pc:sldMk cId="2268483054" sldId="453"/>
            <ac:picMk id="5" creationId="{FCFC78FF-7B66-07D5-7002-41614924870B}"/>
          </ac:picMkLst>
        </pc:picChg>
      </pc:sldChg>
      <pc:sldChg chg="addSp modSp mod">
        <pc:chgData name="Zhu, Boliang" userId="2807e975-b482-45f1-8aec-1c6c50fca21e" providerId="ADAL" clId="{3383B8EF-DC2A-543C-9364-0AEE61D2B73D}" dt="2026-09-07T19:35:01.762" v="136" actId="164"/>
        <pc:sldMkLst>
          <pc:docMk/>
          <pc:sldMk cId="1470423901" sldId="454"/>
        </pc:sldMkLst>
        <pc:spChg chg="add mod">
          <ac:chgData name="Zhu, Boliang" userId="2807e975-b482-45f1-8aec-1c6c50fca21e" providerId="ADAL" clId="{3383B8EF-DC2A-543C-9364-0AEE61D2B73D}" dt="2026-09-07T19:35:01.762" v="136" actId="164"/>
          <ac:spMkLst>
            <pc:docMk/>
            <pc:sldMk cId="1470423901" sldId="454"/>
            <ac:spMk id="4" creationId="{F60795FB-40F5-5F10-B0AD-8A16FBDC50AC}"/>
          </ac:spMkLst>
        </pc:spChg>
        <pc:grpChg chg="add mod">
          <ac:chgData name="Zhu, Boliang" userId="2807e975-b482-45f1-8aec-1c6c50fca21e" providerId="ADAL" clId="{3383B8EF-DC2A-543C-9364-0AEE61D2B73D}" dt="2026-09-07T19:35:01.762" v="136" actId="164"/>
          <ac:grpSpMkLst>
            <pc:docMk/>
            <pc:sldMk cId="1470423901" sldId="454"/>
            <ac:grpSpMk id="6" creationId="{FF4E8DDB-2436-4702-CF13-3D4536EC6B2C}"/>
          </ac:grpSpMkLst>
        </pc:grpChg>
        <pc:picChg chg="mod">
          <ac:chgData name="Zhu, Boliang" userId="2807e975-b482-45f1-8aec-1c6c50fca21e" providerId="ADAL" clId="{3383B8EF-DC2A-543C-9364-0AEE61D2B73D}" dt="2026-09-07T19:35:01.762" v="136" actId="164"/>
          <ac:picMkLst>
            <pc:docMk/>
            <pc:sldMk cId="1470423901" sldId="454"/>
            <ac:picMk id="5" creationId="{70458A77-0BF2-1C88-2745-D76D9DBFD841}"/>
          </ac:picMkLst>
        </pc:picChg>
      </pc:sldChg>
      <pc:sldChg chg="addSp delSp modSp mod">
        <pc:chgData name="Zhu, Boliang" userId="2807e975-b482-45f1-8aec-1c6c50fca21e" providerId="ADAL" clId="{3383B8EF-DC2A-543C-9364-0AEE61D2B73D}" dt="2026-09-07T19:30:30.446" v="39" actId="164"/>
        <pc:sldMkLst>
          <pc:docMk/>
          <pc:sldMk cId="4037211863" sldId="457"/>
        </pc:sldMkLst>
        <pc:spChg chg="del mod">
          <ac:chgData name="Zhu, Boliang" userId="2807e975-b482-45f1-8aec-1c6c50fca21e" providerId="ADAL" clId="{3383B8EF-DC2A-543C-9364-0AEE61D2B73D}" dt="2026-09-07T19:30:05.901" v="1" actId="478"/>
          <ac:spMkLst>
            <pc:docMk/>
            <pc:sldMk cId="4037211863" sldId="457"/>
            <ac:spMk id="3" creationId="{394B129A-AD1E-CDE7-3B18-0CF6C203FF8D}"/>
          </ac:spMkLst>
        </pc:spChg>
        <pc:spChg chg="add mod">
          <ac:chgData name="Zhu, Boliang" userId="2807e975-b482-45f1-8aec-1c6c50fca21e" providerId="ADAL" clId="{3383B8EF-DC2A-543C-9364-0AEE61D2B73D}" dt="2026-09-07T19:30:30.446" v="39" actId="164"/>
          <ac:spMkLst>
            <pc:docMk/>
            <pc:sldMk cId="4037211863" sldId="457"/>
            <ac:spMk id="6" creationId="{5D4126B2-51BD-FBCA-713F-1B3C420B543D}"/>
          </ac:spMkLst>
        </pc:spChg>
        <pc:grpChg chg="add mod">
          <ac:chgData name="Zhu, Boliang" userId="2807e975-b482-45f1-8aec-1c6c50fca21e" providerId="ADAL" clId="{3383B8EF-DC2A-543C-9364-0AEE61D2B73D}" dt="2026-09-07T19:30:30.446" v="39" actId="164"/>
          <ac:grpSpMkLst>
            <pc:docMk/>
            <pc:sldMk cId="4037211863" sldId="457"/>
            <ac:grpSpMk id="7" creationId="{9AFB15F1-1A82-8AF5-6F5D-E6A480CD04C8}"/>
          </ac:grpSpMkLst>
        </pc:grpChg>
        <pc:picChg chg="mod">
          <ac:chgData name="Zhu, Boliang" userId="2807e975-b482-45f1-8aec-1c6c50fca21e" providerId="ADAL" clId="{3383B8EF-DC2A-543C-9364-0AEE61D2B73D}" dt="2026-09-07T19:30:30.446" v="39" actId="164"/>
          <ac:picMkLst>
            <pc:docMk/>
            <pc:sldMk cId="4037211863" sldId="457"/>
            <ac:picMk id="5" creationId="{2C28CA7D-C3A1-3213-3058-C85E09DD7787}"/>
          </ac:picMkLst>
        </pc:picChg>
      </pc:sldChg>
      <pc:sldChg chg="addSp modSp mod">
        <pc:chgData name="Zhu, Boliang" userId="2807e975-b482-45f1-8aec-1c6c50fca21e" providerId="ADAL" clId="{3383B8EF-DC2A-543C-9364-0AEE61D2B73D}" dt="2026-09-07T19:35:42.489" v="156" actId="164"/>
        <pc:sldMkLst>
          <pc:docMk/>
          <pc:sldMk cId="111748874" sldId="460"/>
        </pc:sldMkLst>
        <pc:spChg chg="add mod">
          <ac:chgData name="Zhu, Boliang" userId="2807e975-b482-45f1-8aec-1c6c50fca21e" providerId="ADAL" clId="{3383B8EF-DC2A-543C-9364-0AEE61D2B73D}" dt="2026-09-07T19:35:42.489" v="156" actId="164"/>
          <ac:spMkLst>
            <pc:docMk/>
            <pc:sldMk cId="111748874" sldId="460"/>
            <ac:spMk id="5" creationId="{90ACA9DB-0A86-E212-CF09-E99C32CF63C5}"/>
          </ac:spMkLst>
        </pc:spChg>
        <pc:grpChg chg="add mod">
          <ac:chgData name="Zhu, Boliang" userId="2807e975-b482-45f1-8aec-1c6c50fca21e" providerId="ADAL" clId="{3383B8EF-DC2A-543C-9364-0AEE61D2B73D}" dt="2026-09-07T19:35:42.489" v="156" actId="164"/>
          <ac:grpSpMkLst>
            <pc:docMk/>
            <pc:sldMk cId="111748874" sldId="460"/>
            <ac:grpSpMk id="6" creationId="{7925DF20-CE8B-0586-2416-082A8FC6C7A9}"/>
          </ac:grpSpMkLst>
        </pc:grpChg>
        <pc:picChg chg="mod">
          <ac:chgData name="Zhu, Boliang" userId="2807e975-b482-45f1-8aec-1c6c50fca21e" providerId="ADAL" clId="{3383B8EF-DC2A-543C-9364-0AEE61D2B73D}" dt="2026-09-07T19:35:42.489" v="156" actId="164"/>
          <ac:picMkLst>
            <pc:docMk/>
            <pc:sldMk cId="111748874" sldId="460"/>
            <ac:picMk id="4" creationId="{411924DE-ECD2-A07D-FD91-04A5DAD6146B}"/>
          </ac:picMkLst>
        </pc:picChg>
      </pc:sldChg>
      <pc:sldChg chg="addSp delSp modSp new mod">
        <pc:chgData name="Zhu, Boliang" userId="2807e975-b482-45f1-8aec-1c6c50fca21e" providerId="ADAL" clId="{3383B8EF-DC2A-543C-9364-0AEE61D2B73D}" dt="2026-09-08T01:59:36.315" v="209" actId="1037"/>
        <pc:sldMkLst>
          <pc:docMk/>
          <pc:sldMk cId="999995080" sldId="465"/>
        </pc:sldMkLst>
        <pc:spChg chg="del">
          <ac:chgData name="Zhu, Boliang" userId="2807e975-b482-45f1-8aec-1c6c50fca21e" providerId="ADAL" clId="{3383B8EF-DC2A-543C-9364-0AEE61D2B73D}" dt="2026-09-08T01:56:35.164" v="158" actId="478"/>
          <ac:spMkLst>
            <pc:docMk/>
            <pc:sldMk cId="999995080" sldId="465"/>
            <ac:spMk id="2" creationId="{EC809638-1698-452F-707D-EE75B9827D48}"/>
          </ac:spMkLst>
        </pc:spChg>
        <pc:spChg chg="mod">
          <ac:chgData name="Zhu, Boliang" userId="2807e975-b482-45f1-8aec-1c6c50fca21e" providerId="ADAL" clId="{3383B8EF-DC2A-543C-9364-0AEE61D2B73D}" dt="2026-09-08T01:57:38.376" v="190" actId="20577"/>
          <ac:spMkLst>
            <pc:docMk/>
            <pc:sldMk cId="999995080" sldId="465"/>
            <ac:spMk id="3" creationId="{641FCE02-A190-02CB-BED7-1926CFE8C2B0}"/>
          </ac:spMkLst>
        </pc:spChg>
        <pc:graphicFrameChg chg="add mod modGraphic">
          <ac:chgData name="Zhu, Boliang" userId="2807e975-b482-45f1-8aec-1c6c50fca21e" providerId="ADAL" clId="{3383B8EF-DC2A-543C-9364-0AEE61D2B73D}" dt="2026-09-08T01:59:36.315" v="209" actId="1037"/>
          <ac:graphicFrameMkLst>
            <pc:docMk/>
            <pc:sldMk cId="999995080" sldId="465"/>
            <ac:graphicFrameMk id="4" creationId="{BCA4E0F7-51A6-98D3-6268-8CD2E38A36AE}"/>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CDA447A0-D61D-9748-B499-D9BFB6B47A3B}" type="datetimeFigureOut">
              <a:rPr lang="en-US" smtClean="0"/>
              <a:t>9/7/26</a:t>
            </a:fld>
            <a:endParaRPr lang="en-US"/>
          </a:p>
        </p:txBody>
      </p:sp>
      <p:sp>
        <p:nvSpPr>
          <p:cNvPr id="4" name="Slide Image Placeholder 3"/>
          <p:cNvSpPr>
            <a:spLocks noGrp="1" noRot="1" noChangeAspect="1"/>
          </p:cNvSpPr>
          <p:nvPr>
            <p:ph type="sldImg" idx="2"/>
          </p:nvPr>
        </p:nvSpPr>
        <p:spPr>
          <a:xfrm>
            <a:off x="1497013" y="1200150"/>
            <a:ext cx="4321175"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943126FE-1E13-9247-8BDF-69509163BCA8}" type="slidenum">
              <a:rPr lang="en-US" smtClean="0"/>
              <a:t>‹#›</a:t>
            </a:fld>
            <a:endParaRPr lang="en-US"/>
          </a:p>
        </p:txBody>
      </p:sp>
    </p:spTree>
    <p:extLst>
      <p:ext uri="{BB962C8B-B14F-4D97-AF65-F5344CB8AC3E}">
        <p14:creationId xmlns:p14="http://schemas.microsoft.com/office/powerpoint/2010/main" val="254284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2B71C30-8724-8647-92DF-8ABA90919FAB}" type="slidenum">
              <a:rPr lang="en-US" smtClean="0"/>
              <a:pPr/>
              <a:t>21</a:t>
            </a:fld>
            <a:endParaRPr lang="en-US"/>
          </a:p>
        </p:txBody>
      </p:sp>
    </p:spTree>
    <p:extLst>
      <p:ext uri="{BB962C8B-B14F-4D97-AF65-F5344CB8AC3E}">
        <p14:creationId xmlns:p14="http://schemas.microsoft.com/office/powerpoint/2010/main" val="171984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A47A469-0158-48AE-95EF-A6F35E787CF3}" type="datetimeFigureOut">
              <a:rPr lang="en-US" smtClean="0"/>
              <a:pPr/>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
        <p:nvSpPr>
          <p:cNvPr id="7" name="Title 6"/>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A47A469-0158-48AE-95EF-A6F35E787CF3}" type="datetimeFigureOut">
              <a:rPr lang="en-US" smtClean="0"/>
              <a:pPr/>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Date Placeholder 4"/>
          <p:cNvSpPr>
            <a:spLocks noGrp="1"/>
          </p:cNvSpPr>
          <p:nvPr>
            <p:ph type="dt" sz="half" idx="10"/>
          </p:nvPr>
        </p:nvSpPr>
        <p:spPr/>
        <p:txBody>
          <a:bodyPr/>
          <a:lstStyle/>
          <a:p>
            <a:fld id="{7A47A469-0158-48AE-95EF-A6F35E787CF3}" type="datetimeFigureOut">
              <a:rPr lang="en-US" smtClean="0"/>
              <a:pPr/>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2679192"/>
            <a:ext cx="3822192" cy="344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A47A469-0158-48AE-95EF-A6F35E787CF3}" type="datetimeFigureOut">
              <a:rPr lang="en-US" smtClean="0"/>
              <a:pPr/>
              <a:t>9/7/26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A47A469-0158-48AE-95EF-A6F35E787CF3}" type="datetimeFigureOut">
              <a:rPr lang="en-US" smtClean="0"/>
              <a:pPr/>
              <a:t>9/7/26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7A47A469-0158-48AE-95EF-A6F35E787CF3}" type="datetimeFigureOut">
              <a:rPr lang="en-US" smtClean="0"/>
              <a:pPr/>
              <a:t>9/7/26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A47A469-0158-48AE-95EF-A6F35E787CF3}" type="datetimeFigureOut">
              <a:rPr lang="en-US" smtClean="0"/>
              <a:pPr/>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A47A469-0158-48AE-95EF-A6F35E787CF3}" type="datetimeFigureOut">
              <a:rPr lang="en-US" smtClean="0"/>
              <a:pPr/>
              <a:t>9/7/26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88A354-FF75-402C-A63C-FF2AD54F942C}" type="slidenum">
              <a:rPr lang="en-US" smtClean="0"/>
              <a:pPr/>
              <a:t>‹#›</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A47A469-0158-48AE-95EF-A6F35E787CF3}" type="datetimeFigureOut">
              <a:rPr lang="en-US" smtClean="0"/>
              <a:pPr/>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7A47A469-0158-48AE-95EF-A6F35E787CF3}" type="datetimeFigureOut">
              <a:rPr lang="en-US" smtClean="0"/>
              <a:pPr/>
              <a:t>9/7/26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88A354-FF75-402C-A63C-FF2AD54F942C}" type="slidenum">
              <a:rPr lang="en-US" smtClean="0"/>
              <a:pPr/>
              <a:t>‹#›</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7A47A469-0158-48AE-95EF-A6F35E787CF3}" type="datetimeFigureOut">
              <a:rPr lang="en-US" smtClean="0"/>
              <a:pPr/>
              <a:t>9/7/26</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AD88A354-FF75-402C-A63C-FF2AD54F942C}" type="slidenum">
              <a:rPr lang="en-US" smtClean="0"/>
              <a:pPr/>
              <a:t>‹#›</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PLSC 14: Realism, Liberalism &amp; Constructivism</a:t>
            </a:r>
          </a:p>
        </p:txBody>
      </p:sp>
      <p:sp>
        <p:nvSpPr>
          <p:cNvPr id="3" name="Subtitle 2"/>
          <p:cNvSpPr>
            <a:spLocks noGrp="1"/>
          </p:cNvSpPr>
          <p:nvPr>
            <p:ph type="subTitle" idx="1"/>
          </p:nvPr>
        </p:nvSpPr>
        <p:spPr/>
        <p:txBody>
          <a:bodyPr>
            <a:normAutofit/>
          </a:bodyPr>
          <a:lstStyle/>
          <a:p>
            <a:endParaRPr lang="en-US" dirty="0"/>
          </a:p>
          <a:p>
            <a:r>
              <a:rPr lang="en-US" dirty="0"/>
              <a:t>Professor </a:t>
            </a:r>
            <a:r>
              <a:rPr lang="en-US" dirty="0" err="1"/>
              <a:t>Boliang</a:t>
            </a:r>
            <a:r>
              <a:rPr lang="en-US" dirty="0"/>
              <a:t> Zhu</a:t>
            </a:r>
          </a:p>
          <a:p>
            <a:endParaRPr lang="en-US" dirty="0"/>
          </a:p>
        </p:txBody>
      </p:sp>
    </p:spTree>
    <p:extLst>
      <p:ext uri="{BB962C8B-B14F-4D97-AF65-F5344CB8AC3E}">
        <p14:creationId xmlns:p14="http://schemas.microsoft.com/office/powerpoint/2010/main" val="336287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3206AA-57DC-A729-549C-D07CF43AC83A}"/>
              </a:ext>
            </a:extLst>
          </p:cNvPr>
          <p:cNvSpPr>
            <a:spLocks noGrp="1"/>
          </p:cNvSpPr>
          <p:nvPr>
            <p:ph idx="1"/>
          </p:nvPr>
        </p:nvSpPr>
        <p:spPr>
          <a:xfrm>
            <a:off x="609600" y="1905000"/>
            <a:ext cx="8000999" cy="4221163"/>
          </a:xfrm>
        </p:spPr>
        <p:txBody>
          <a:bodyPr>
            <a:normAutofit/>
          </a:bodyPr>
          <a:lstStyle/>
          <a:p>
            <a:pPr>
              <a:buFont typeface="Wingdings" pitchFamily="2" charset="2"/>
              <a:buChar char="q"/>
            </a:pPr>
            <a:r>
              <a:rPr lang="en-US" dirty="0"/>
              <a:t>A logically consistent set of statements that explains a phenomenon of interest.</a:t>
            </a:r>
          </a:p>
          <a:p>
            <a:pPr lvl="1">
              <a:buFont typeface="Wingdings" pitchFamily="2" charset="2"/>
              <a:buChar char="Ø"/>
            </a:pPr>
            <a:r>
              <a:rPr lang="en-US" sz="1800" dirty="0"/>
              <a:t>Specify the factors that play a role in causing the events.</a:t>
            </a:r>
          </a:p>
          <a:p>
            <a:pPr lvl="1">
              <a:buFont typeface="Wingdings" pitchFamily="2" charset="2"/>
              <a:buChar char="Ø"/>
            </a:pPr>
            <a:r>
              <a:rPr lang="en-US" sz="1800" dirty="0"/>
              <a:t>How how these pieces fit together, making sense of the puzzle.</a:t>
            </a:r>
          </a:p>
          <a:p>
            <a:pPr lvl="1"/>
            <a:endParaRPr lang="en-US" dirty="0"/>
          </a:p>
          <a:p>
            <a:pPr>
              <a:buFont typeface="Wingdings" pitchFamily="2" charset="2"/>
              <a:buChar char="q"/>
            </a:pPr>
            <a:r>
              <a:rPr lang="en-US" dirty="0"/>
              <a:t>Theories help us to describe, predict, and prescribe.</a:t>
            </a:r>
          </a:p>
          <a:p>
            <a:pPr lvl="1">
              <a:buFont typeface="Wingdings" pitchFamily="2" charset="2"/>
              <a:buChar char="Ø"/>
            </a:pPr>
            <a:r>
              <a:rPr lang="en-US" sz="1800" b="1" i="1" dirty="0"/>
              <a:t>Describe</a:t>
            </a:r>
            <a:r>
              <a:rPr lang="en-US" sz="1800" dirty="0"/>
              <a:t> events by identifying which factors are important.</a:t>
            </a:r>
          </a:p>
          <a:p>
            <a:pPr lvl="1">
              <a:buFont typeface="Wingdings" pitchFamily="2" charset="2"/>
              <a:buChar char="Ø"/>
            </a:pPr>
            <a:r>
              <a:rPr lang="en-US" sz="1800" b="1" i="1" dirty="0"/>
              <a:t>Predict</a:t>
            </a:r>
            <a:r>
              <a:rPr lang="en-US" sz="1800" dirty="0"/>
              <a:t> by offering a sense of how the world works and suggesting how a </a:t>
            </a:r>
            <a:r>
              <a:rPr lang="en-US" sz="1800" i="1" dirty="0"/>
              <a:t>change</a:t>
            </a:r>
            <a:r>
              <a:rPr lang="en-US" sz="1800" dirty="0"/>
              <a:t> in one factor will lead to changes in behavior and outcomes.</a:t>
            </a:r>
          </a:p>
          <a:p>
            <a:pPr lvl="1">
              <a:buFont typeface="Wingdings" pitchFamily="2" charset="2"/>
              <a:buChar char="Ø"/>
            </a:pPr>
            <a:r>
              <a:rPr lang="en-US" sz="1800" b="1" i="1" dirty="0"/>
              <a:t>Prescribe</a:t>
            </a:r>
            <a:r>
              <a:rPr lang="en-US" sz="1800" dirty="0"/>
              <a:t> policy responses by identifying what must be changed to foster better outcomes. </a:t>
            </a:r>
          </a:p>
        </p:txBody>
      </p:sp>
      <p:sp>
        <p:nvSpPr>
          <p:cNvPr id="3" name="Title 2">
            <a:extLst>
              <a:ext uri="{FF2B5EF4-FFF2-40B4-BE49-F238E27FC236}">
                <a16:creationId xmlns:a16="http://schemas.microsoft.com/office/drawing/2014/main" id="{755D97C2-36B0-8291-F2D2-9FFD11668B47}"/>
              </a:ext>
            </a:extLst>
          </p:cNvPr>
          <p:cNvSpPr>
            <a:spLocks noGrp="1"/>
          </p:cNvSpPr>
          <p:nvPr>
            <p:ph type="title"/>
          </p:nvPr>
        </p:nvSpPr>
        <p:spPr/>
        <p:txBody>
          <a:bodyPr/>
          <a:lstStyle/>
          <a:p>
            <a:r>
              <a:rPr lang="en-US" dirty="0"/>
              <a:t>What Is a Theory?</a:t>
            </a:r>
          </a:p>
        </p:txBody>
      </p:sp>
    </p:spTree>
    <p:extLst>
      <p:ext uri="{BB962C8B-B14F-4D97-AF65-F5344CB8AC3E}">
        <p14:creationId xmlns:p14="http://schemas.microsoft.com/office/powerpoint/2010/main" val="2191610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972E209-4518-0D65-27C7-E86978894AE8}"/>
              </a:ext>
            </a:extLst>
          </p:cNvPr>
          <p:cNvSpPr>
            <a:spLocks noGrp="1"/>
          </p:cNvSpPr>
          <p:nvPr>
            <p:ph idx="1"/>
          </p:nvPr>
        </p:nvSpPr>
        <p:spPr>
          <a:xfrm>
            <a:off x="762000" y="2133600"/>
            <a:ext cx="7619999" cy="1600201"/>
          </a:xfrm>
        </p:spPr>
        <p:txBody>
          <a:bodyPr/>
          <a:lstStyle/>
          <a:p>
            <a:pPr>
              <a:buFont typeface="Wingdings" pitchFamily="2" charset="2"/>
              <a:buChar char="q"/>
            </a:pPr>
            <a:r>
              <a:rPr lang="en-US" dirty="0"/>
              <a:t>Realism</a:t>
            </a:r>
          </a:p>
          <a:p>
            <a:pPr>
              <a:buFont typeface="Wingdings" pitchFamily="2" charset="2"/>
              <a:buChar char="q"/>
            </a:pPr>
            <a:r>
              <a:rPr lang="en-US" dirty="0"/>
              <a:t>Liberalism</a:t>
            </a:r>
          </a:p>
          <a:p>
            <a:pPr>
              <a:buFont typeface="Wingdings" pitchFamily="2" charset="2"/>
              <a:buChar char="q"/>
            </a:pPr>
            <a:r>
              <a:rPr lang="en-US" dirty="0"/>
              <a:t>Constructivism</a:t>
            </a:r>
          </a:p>
        </p:txBody>
      </p:sp>
      <p:grpSp>
        <p:nvGrpSpPr>
          <p:cNvPr id="7" name="Group 6">
            <a:extLst>
              <a:ext uri="{FF2B5EF4-FFF2-40B4-BE49-F238E27FC236}">
                <a16:creationId xmlns:a16="http://schemas.microsoft.com/office/drawing/2014/main" id="{9AFB15F1-1A82-8AF5-6F5D-E6A480CD04C8}"/>
              </a:ext>
            </a:extLst>
          </p:cNvPr>
          <p:cNvGrpSpPr/>
          <p:nvPr/>
        </p:nvGrpSpPr>
        <p:grpSpPr>
          <a:xfrm>
            <a:off x="838200" y="457200"/>
            <a:ext cx="7772400" cy="6230112"/>
            <a:chOff x="838200" y="457200"/>
            <a:chExt cx="7772400" cy="6230112"/>
          </a:xfrm>
        </p:grpSpPr>
        <p:pic>
          <p:nvPicPr>
            <p:cNvPr id="5" name="Picture 4" descr="A group of flags on poles&#10;&#10;Description automatically generated">
              <a:extLst>
                <a:ext uri="{FF2B5EF4-FFF2-40B4-BE49-F238E27FC236}">
                  <a16:creationId xmlns:a16="http://schemas.microsoft.com/office/drawing/2014/main" id="{2C28CA7D-C3A1-3213-3058-C85E09DD7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733800"/>
              <a:ext cx="7772400" cy="2953512"/>
            </a:xfrm>
            <a:prstGeom prst="rect">
              <a:avLst/>
            </a:prstGeom>
          </p:spPr>
        </p:pic>
        <p:sp>
          <p:nvSpPr>
            <p:cNvPr id="6" name="TextBox 5">
              <a:extLst>
                <a:ext uri="{FF2B5EF4-FFF2-40B4-BE49-F238E27FC236}">
                  <a16:creationId xmlns:a16="http://schemas.microsoft.com/office/drawing/2014/main" id="{5D4126B2-51BD-FBCA-713F-1B3C420B543D}"/>
                </a:ext>
              </a:extLst>
            </p:cNvPr>
            <p:cNvSpPr txBox="1"/>
            <p:nvPr/>
          </p:nvSpPr>
          <p:spPr>
            <a:xfrm>
              <a:off x="2286000" y="457200"/>
              <a:ext cx="4572000" cy="769441"/>
            </a:xfrm>
            <a:prstGeom prst="rect">
              <a:avLst/>
            </a:prstGeom>
            <a:noFill/>
          </p:spPr>
          <p:txBody>
            <a:bodyPr wrap="square">
              <a:spAutoFit/>
            </a:bodyPr>
            <a:lstStyle/>
            <a:p>
              <a:pPr algn="ctr"/>
              <a:r>
                <a:rPr lang="en-US" sz="4400" dirty="0">
                  <a:solidFill>
                    <a:schemeClr val="bg1"/>
                  </a:solidFill>
                </a:rPr>
                <a:t>Grand IR Theories</a:t>
              </a:r>
              <a:endParaRPr lang="en-US" dirty="0">
                <a:solidFill>
                  <a:schemeClr val="bg1"/>
                </a:solidFill>
              </a:endParaRPr>
            </a:p>
          </p:txBody>
        </p:sp>
      </p:grpSp>
    </p:spTree>
    <p:extLst>
      <p:ext uri="{BB962C8B-B14F-4D97-AF65-F5344CB8AC3E}">
        <p14:creationId xmlns:p14="http://schemas.microsoft.com/office/powerpoint/2010/main" val="4037211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p:txBody>
          <a:bodyPr/>
          <a:lstStyle/>
          <a:p>
            <a:pPr eaLnBrk="1" hangingPunct="1"/>
            <a:r>
              <a:rPr lang="en-US" altLang="en-US" dirty="0"/>
              <a:t>Realism</a:t>
            </a:r>
          </a:p>
        </p:txBody>
      </p:sp>
      <p:sp>
        <p:nvSpPr>
          <p:cNvPr id="3075" name="Content Placeholder 2"/>
          <p:cNvSpPr>
            <a:spLocks noGrp="1"/>
          </p:cNvSpPr>
          <p:nvPr>
            <p:ph idx="1"/>
          </p:nvPr>
        </p:nvSpPr>
        <p:spPr>
          <a:xfrm>
            <a:off x="609600" y="1676400"/>
            <a:ext cx="8077200" cy="4495800"/>
          </a:xfrm>
        </p:spPr>
        <p:txBody>
          <a:bodyPr>
            <a:normAutofit/>
          </a:bodyPr>
          <a:lstStyle/>
          <a:p>
            <a:pPr eaLnBrk="1" hangingPunct="1">
              <a:buFont typeface="Wingdings" pitchFamily="2" charset="2"/>
              <a:buChar char="q"/>
            </a:pPr>
            <a:r>
              <a:rPr lang="en-US" altLang="en-US" sz="2600" dirty="0"/>
              <a:t>Two key assumptions about the international system:</a:t>
            </a:r>
          </a:p>
          <a:p>
            <a:pPr lvl="1" eaLnBrk="1" hangingPunct="1">
              <a:buFont typeface="Wingdings" pitchFamily="2" charset="2"/>
              <a:buChar char="Ø"/>
            </a:pPr>
            <a:r>
              <a:rPr lang="en-US" altLang="en-US" dirty="0"/>
              <a:t>States are the dominant actors.</a:t>
            </a:r>
          </a:p>
          <a:p>
            <a:pPr lvl="1" eaLnBrk="1" hangingPunct="1">
              <a:buFont typeface="Wingdings" pitchFamily="2" charset="2"/>
              <a:buChar char="Ø"/>
            </a:pPr>
            <a:r>
              <a:rPr lang="en-US" altLang="en-US" dirty="0"/>
              <a:t>Anarchy shapes the interests and interactions that matter in world politics.</a:t>
            </a:r>
          </a:p>
          <a:p>
            <a:pPr lvl="1" eaLnBrk="1" hangingPunct="1"/>
            <a:endParaRPr lang="en-US" altLang="en-US" dirty="0"/>
          </a:p>
          <a:p>
            <a:pPr>
              <a:buFont typeface="Wingdings" pitchFamily="2" charset="2"/>
              <a:buChar char="q"/>
            </a:pPr>
            <a:r>
              <a:rPr lang="en-US" altLang="en-US" dirty="0"/>
              <a:t>Constant fear of one another in a self-help system. </a:t>
            </a:r>
          </a:p>
          <a:p>
            <a:pPr lvl="1">
              <a:buFont typeface="Wingdings" pitchFamily="2" charset="2"/>
              <a:buChar char="Ø"/>
            </a:pPr>
            <a:r>
              <a:rPr lang="en-US" altLang="en-US" dirty="0"/>
              <a:t>Look out for its own survival and security.</a:t>
            </a:r>
          </a:p>
          <a:p>
            <a:pPr lvl="1">
              <a:buFont typeface="Wingdings" pitchFamily="2" charset="2"/>
              <a:buChar char="Ø"/>
            </a:pPr>
            <a:r>
              <a:rPr lang="en-US" altLang="en-US" dirty="0"/>
              <a:t>Seek security and power.</a:t>
            </a:r>
          </a:p>
          <a:p>
            <a:pPr lvl="2">
              <a:buFont typeface="Wingdings" pitchFamily="2" charset="2"/>
              <a:buChar char="v"/>
            </a:pPr>
            <a:r>
              <a:rPr lang="en-US" altLang="en-US" sz="1800" dirty="0"/>
              <a:t>Maximize power both externally and internally.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5">
                                            <p:txEl>
                                              <p:pRg st="2" end="2"/>
                                            </p:txEl>
                                          </p:spTgt>
                                        </p:tgtEl>
                                        <p:attrNameLst>
                                          <p:attrName>style.visibility</p:attrName>
                                        </p:attrNameLst>
                                      </p:cBhvr>
                                      <p:to>
                                        <p:strVal val="visible"/>
                                      </p:to>
                                    </p:set>
                                    <p:anim calcmode="lin" valueType="num">
                                      <p:cBhvr additive="base">
                                        <p:cTn id="7"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xEl>
                                              <p:pRg st="4" end="4"/>
                                            </p:txEl>
                                          </p:spTgt>
                                        </p:tgtEl>
                                        <p:attrNameLst>
                                          <p:attrName>style.visibility</p:attrName>
                                        </p:attrNameLst>
                                      </p:cBhvr>
                                      <p:to>
                                        <p:strVal val="visible"/>
                                      </p:to>
                                    </p:set>
                                    <p:anim calcmode="lin" valueType="num">
                                      <p:cBhvr additive="base">
                                        <p:cTn id="13" dur="500" fill="hold"/>
                                        <p:tgtEl>
                                          <p:spTgt spid="307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xEl>
                                              <p:pRg st="5" end="5"/>
                                            </p:txEl>
                                          </p:spTgt>
                                        </p:tgtEl>
                                        <p:attrNameLst>
                                          <p:attrName>style.visibility</p:attrName>
                                        </p:attrNameLst>
                                      </p:cBhvr>
                                      <p:to>
                                        <p:strVal val="visible"/>
                                      </p:to>
                                    </p:set>
                                    <p:anim calcmode="lin" valueType="num">
                                      <p:cBhvr additive="base">
                                        <p:cTn id="19" dur="500" fill="hold"/>
                                        <p:tgtEl>
                                          <p:spTgt spid="307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75">
                                            <p:txEl>
                                              <p:pRg st="6" end="6"/>
                                            </p:txEl>
                                          </p:spTgt>
                                        </p:tgtEl>
                                        <p:attrNameLst>
                                          <p:attrName>style.visibility</p:attrName>
                                        </p:attrNameLst>
                                      </p:cBhvr>
                                      <p:to>
                                        <p:strVal val="visible"/>
                                      </p:to>
                                    </p:set>
                                    <p:anim calcmode="lin" valueType="num">
                                      <p:cBhvr additive="base">
                                        <p:cTn id="25" dur="500" fill="hold"/>
                                        <p:tgtEl>
                                          <p:spTgt spid="307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075">
                                            <p:txEl>
                                              <p:pRg st="7" end="7"/>
                                            </p:txEl>
                                          </p:spTgt>
                                        </p:tgtEl>
                                        <p:attrNameLst>
                                          <p:attrName>style.visibility</p:attrName>
                                        </p:attrNameLst>
                                      </p:cBhvr>
                                      <p:to>
                                        <p:strVal val="visible"/>
                                      </p:to>
                                    </p:set>
                                    <p:anim calcmode="lin" valueType="num">
                                      <p:cBhvr additive="base">
                                        <p:cTn id="31" dur="500" fill="hold"/>
                                        <p:tgtEl>
                                          <p:spTgt spid="3075">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7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title"/>
          </p:nvPr>
        </p:nvSpPr>
        <p:spPr/>
        <p:txBody>
          <a:bodyPr/>
          <a:lstStyle/>
          <a:p>
            <a:pPr eaLnBrk="1" hangingPunct="1"/>
            <a:r>
              <a:rPr lang="en-US" altLang="en-US" dirty="0"/>
              <a:t>Realism</a:t>
            </a:r>
          </a:p>
        </p:txBody>
      </p:sp>
      <p:sp>
        <p:nvSpPr>
          <p:cNvPr id="4099" name="Content Placeholder 2"/>
          <p:cNvSpPr>
            <a:spLocks noGrp="1"/>
          </p:cNvSpPr>
          <p:nvPr>
            <p:ph idx="1"/>
          </p:nvPr>
        </p:nvSpPr>
        <p:spPr>
          <a:xfrm>
            <a:off x="609600" y="1676400"/>
            <a:ext cx="7967133" cy="4614672"/>
          </a:xfrm>
        </p:spPr>
        <p:txBody>
          <a:bodyPr>
            <a:normAutofit lnSpcReduction="10000"/>
          </a:bodyPr>
          <a:lstStyle/>
          <a:p>
            <a:pPr eaLnBrk="1" hangingPunct="1">
              <a:buFont typeface="Wingdings" pitchFamily="2" charset="2"/>
              <a:buChar char="q"/>
            </a:pPr>
            <a:r>
              <a:rPr lang="en-US" altLang="en-US" b="1" dirty="0"/>
              <a:t>Security dilemma</a:t>
            </a:r>
          </a:p>
          <a:p>
            <a:pPr lvl="1">
              <a:buFont typeface="Wingdings" pitchFamily="2" charset="2"/>
              <a:buChar char="Ø"/>
            </a:pPr>
            <a:r>
              <a:rPr lang="en-US" altLang="en-US" sz="1800" dirty="0"/>
              <a:t>When state A improves its military capabilities to enhance it own security, it typically undermines others’ security.</a:t>
            </a:r>
          </a:p>
          <a:p>
            <a:pPr marL="301943" lvl="1" indent="0">
              <a:buNone/>
            </a:pPr>
            <a:endParaRPr lang="en-US" altLang="en-US" sz="1100" dirty="0"/>
          </a:p>
          <a:p>
            <a:pPr>
              <a:buFont typeface="Wingdings" pitchFamily="2" charset="2"/>
              <a:buChar char="q"/>
            </a:pPr>
            <a:r>
              <a:rPr lang="en-US" altLang="en-US" dirty="0"/>
              <a:t>Anarchy + Uncertainty </a:t>
            </a:r>
            <a:r>
              <a:rPr lang="en-US" altLang="en-US" dirty="0">
                <a:sym typeface="Wingdings" panose="05000000000000000000" pitchFamily="2" charset="2"/>
              </a:rPr>
              <a:t> Self-Help  Power Maximization  Security Dilemmas</a:t>
            </a:r>
          </a:p>
          <a:p>
            <a:pPr lvl="1">
              <a:buFont typeface="Wingdings" pitchFamily="2" charset="2"/>
              <a:buChar char="Ø"/>
            </a:pPr>
            <a:r>
              <a:rPr lang="en-US" altLang="en-US" sz="1800" dirty="0">
                <a:sym typeface="Wingdings" panose="05000000000000000000" pitchFamily="2" charset="2"/>
              </a:rPr>
              <a:t>IR is fraught with conflict.</a:t>
            </a:r>
          </a:p>
          <a:p>
            <a:pPr lvl="1">
              <a:buFont typeface="Wingdings" pitchFamily="2" charset="2"/>
              <a:buChar char="Ø"/>
            </a:pPr>
            <a:r>
              <a:rPr lang="en-US" altLang="en-US" sz="1800" dirty="0">
                <a:sym typeface="Wingdings" panose="05000000000000000000" pitchFamily="2" charset="2"/>
              </a:rPr>
              <a:t>International cooperation is unlikely.</a:t>
            </a:r>
          </a:p>
          <a:p>
            <a:pPr lvl="1">
              <a:buFont typeface="Wingdings" pitchFamily="2" charset="2"/>
              <a:buChar char="Ø"/>
            </a:pPr>
            <a:r>
              <a:rPr lang="en-US" altLang="en-US" sz="1800" dirty="0">
                <a:sym typeface="Wingdings" panose="05000000000000000000" pitchFamily="2" charset="2"/>
              </a:rPr>
              <a:t>International organizations are ineffective.</a:t>
            </a:r>
          </a:p>
          <a:p>
            <a:endParaRPr lang="en-US" altLang="en-US" sz="1100" dirty="0">
              <a:sym typeface="Wingdings" panose="05000000000000000000" pitchFamily="2" charset="2"/>
            </a:endParaRPr>
          </a:p>
          <a:p>
            <a:pPr>
              <a:buFont typeface="Wingdings" pitchFamily="2" charset="2"/>
              <a:buChar char="q"/>
            </a:pPr>
            <a:r>
              <a:rPr lang="en-US" altLang="en-US" dirty="0">
                <a:sym typeface="Wingdings" panose="05000000000000000000" pitchFamily="2" charset="2"/>
              </a:rPr>
              <a:t>Only when states have common enemies can they trust each other &amp; cooperate.</a:t>
            </a:r>
          </a:p>
          <a:p>
            <a:pPr lvl="1">
              <a:buFont typeface="Wingdings" pitchFamily="2" charset="2"/>
              <a:buChar char="Ø"/>
            </a:pPr>
            <a:r>
              <a:rPr lang="en-US" altLang="en-US" sz="1800" dirty="0">
                <a:sym typeface="Wingdings" panose="05000000000000000000" pitchFamily="2" charset="2"/>
              </a:rPr>
              <a:t>As soon as the common enemy is gone, the cooperation is expected to end</a:t>
            </a:r>
            <a:endParaRPr lang="en-US" altLang="en-US" sz="1800" dirty="0"/>
          </a:p>
          <a:p>
            <a:pPr lvl="1" eaLnBrk="1" hangingPunct="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9">
                                            <p:txEl>
                                              <p:pRg st="3" end="3"/>
                                            </p:txEl>
                                          </p:spTgt>
                                        </p:tgtEl>
                                        <p:attrNameLst>
                                          <p:attrName>style.visibility</p:attrName>
                                        </p:attrNameLst>
                                      </p:cBhvr>
                                      <p:to>
                                        <p:strVal val="visible"/>
                                      </p:to>
                                    </p:set>
                                    <p:anim calcmode="lin" valueType="num">
                                      <p:cBhvr additive="base">
                                        <p:cTn id="19" dur="500" fill="hold"/>
                                        <p:tgtEl>
                                          <p:spTgt spid="409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099">
                                            <p:txEl>
                                              <p:pRg st="4" end="4"/>
                                            </p:txEl>
                                          </p:spTgt>
                                        </p:tgtEl>
                                        <p:attrNameLst>
                                          <p:attrName>style.visibility</p:attrName>
                                        </p:attrNameLst>
                                      </p:cBhvr>
                                      <p:to>
                                        <p:strVal val="visible"/>
                                      </p:to>
                                    </p:set>
                                    <p:anim calcmode="lin" valueType="num">
                                      <p:cBhvr additive="base">
                                        <p:cTn id="25" dur="500" fill="hold"/>
                                        <p:tgtEl>
                                          <p:spTgt spid="409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0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099">
                                            <p:txEl>
                                              <p:pRg st="5" end="5"/>
                                            </p:txEl>
                                          </p:spTgt>
                                        </p:tgtEl>
                                        <p:attrNameLst>
                                          <p:attrName>style.visibility</p:attrName>
                                        </p:attrNameLst>
                                      </p:cBhvr>
                                      <p:to>
                                        <p:strVal val="visible"/>
                                      </p:to>
                                    </p:set>
                                    <p:anim calcmode="lin" valueType="num">
                                      <p:cBhvr additive="base">
                                        <p:cTn id="31" dur="500" fill="hold"/>
                                        <p:tgtEl>
                                          <p:spTgt spid="409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09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099">
                                            <p:txEl>
                                              <p:pRg st="6" end="6"/>
                                            </p:txEl>
                                          </p:spTgt>
                                        </p:tgtEl>
                                        <p:attrNameLst>
                                          <p:attrName>style.visibility</p:attrName>
                                        </p:attrNameLst>
                                      </p:cBhvr>
                                      <p:to>
                                        <p:strVal val="visible"/>
                                      </p:to>
                                    </p:set>
                                    <p:anim calcmode="lin" valueType="num">
                                      <p:cBhvr additive="base">
                                        <p:cTn id="37" dur="500" fill="hold"/>
                                        <p:tgtEl>
                                          <p:spTgt spid="409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0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099">
                                            <p:txEl>
                                              <p:pRg st="8" end="8"/>
                                            </p:txEl>
                                          </p:spTgt>
                                        </p:tgtEl>
                                        <p:attrNameLst>
                                          <p:attrName>style.visibility</p:attrName>
                                        </p:attrNameLst>
                                      </p:cBhvr>
                                      <p:to>
                                        <p:strVal val="visible"/>
                                      </p:to>
                                    </p:set>
                                    <p:anim calcmode="lin" valueType="num">
                                      <p:cBhvr additive="base">
                                        <p:cTn id="43" dur="500" fill="hold"/>
                                        <p:tgtEl>
                                          <p:spTgt spid="4099">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09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099">
                                            <p:txEl>
                                              <p:pRg st="9" end="9"/>
                                            </p:txEl>
                                          </p:spTgt>
                                        </p:tgtEl>
                                        <p:attrNameLst>
                                          <p:attrName>style.visibility</p:attrName>
                                        </p:attrNameLst>
                                      </p:cBhvr>
                                      <p:to>
                                        <p:strVal val="visible"/>
                                      </p:to>
                                    </p:set>
                                    <p:anim calcmode="lin" valueType="num">
                                      <p:cBhvr additive="base">
                                        <p:cTn id="49" dur="500" fill="hold"/>
                                        <p:tgtEl>
                                          <p:spTgt spid="4099">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4099">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D2A71-EFF8-43A9-A730-8A2C515C3105}"/>
              </a:ext>
            </a:extLst>
          </p:cNvPr>
          <p:cNvSpPr>
            <a:spLocks noGrp="1"/>
          </p:cNvSpPr>
          <p:nvPr>
            <p:ph type="title"/>
          </p:nvPr>
        </p:nvSpPr>
        <p:spPr/>
        <p:txBody>
          <a:bodyPr/>
          <a:lstStyle/>
          <a:p>
            <a:r>
              <a:rPr lang="en-US" dirty="0"/>
              <a:t>Realism</a:t>
            </a:r>
          </a:p>
        </p:txBody>
      </p:sp>
      <p:sp>
        <p:nvSpPr>
          <p:cNvPr id="3" name="Content Placeholder 2">
            <a:extLst>
              <a:ext uri="{FF2B5EF4-FFF2-40B4-BE49-F238E27FC236}">
                <a16:creationId xmlns:a16="http://schemas.microsoft.com/office/drawing/2014/main" id="{1274DD20-5DC3-4BDC-8F85-5B57F797F5B7}"/>
              </a:ext>
            </a:extLst>
          </p:cNvPr>
          <p:cNvSpPr>
            <a:spLocks noGrp="1"/>
          </p:cNvSpPr>
          <p:nvPr>
            <p:ph idx="1"/>
          </p:nvPr>
        </p:nvSpPr>
        <p:spPr>
          <a:xfrm>
            <a:off x="685800" y="1600200"/>
            <a:ext cx="7848599" cy="3992563"/>
          </a:xfrm>
        </p:spPr>
        <p:txBody>
          <a:bodyPr>
            <a:normAutofit fontScale="92500" lnSpcReduction="10000"/>
          </a:bodyPr>
          <a:lstStyle/>
          <a:p>
            <a:pPr>
              <a:buFont typeface="Wingdings" pitchFamily="2" charset="2"/>
              <a:buChar char="q"/>
            </a:pPr>
            <a:r>
              <a:rPr lang="en-US" dirty="0"/>
              <a:t>Stability can be achieved.</a:t>
            </a:r>
          </a:p>
          <a:p>
            <a:endParaRPr lang="en-US" sz="1100" dirty="0"/>
          </a:p>
          <a:p>
            <a:pPr>
              <a:buFont typeface="Wingdings" pitchFamily="2" charset="2"/>
              <a:buChar char="q"/>
            </a:pPr>
            <a:r>
              <a:rPr lang="en-US" dirty="0"/>
              <a:t>If states achieve equality of power with each other, then war is unlikely because neither side expects to win if they attack.</a:t>
            </a:r>
          </a:p>
          <a:p>
            <a:pPr marL="0" indent="0">
              <a:buNone/>
            </a:pPr>
            <a:endParaRPr lang="en-US" sz="1100" dirty="0"/>
          </a:p>
          <a:p>
            <a:pPr>
              <a:buFont typeface="Wingdings" pitchFamily="2" charset="2"/>
              <a:buChar char="q"/>
            </a:pPr>
            <a:r>
              <a:rPr lang="en-US" b="1" dirty="0"/>
              <a:t>Balance of Power</a:t>
            </a:r>
            <a:endParaRPr lang="en-US" dirty="0"/>
          </a:p>
          <a:p>
            <a:pPr lvl="1">
              <a:buFont typeface="Wingdings" pitchFamily="2" charset="2"/>
              <a:buChar char="Ø"/>
            </a:pPr>
            <a:r>
              <a:rPr lang="en-US" sz="1900" b="1" dirty="0"/>
              <a:t>Internal balancing</a:t>
            </a:r>
            <a:r>
              <a:rPr lang="en-US" sz="1900" dirty="0"/>
              <a:t>: build up their own capabilities to check dangerous concentrations of power</a:t>
            </a:r>
          </a:p>
          <a:p>
            <a:pPr lvl="1">
              <a:buFont typeface="Wingdings" pitchFamily="2" charset="2"/>
              <a:buChar char="Ø"/>
            </a:pPr>
            <a:r>
              <a:rPr lang="en-US" sz="1900" b="1" dirty="0"/>
              <a:t>External balancing</a:t>
            </a:r>
            <a:r>
              <a:rPr lang="en-US" sz="1900" dirty="0"/>
              <a:t>: aggregate their capabilities with other states in alliances.</a:t>
            </a:r>
          </a:p>
          <a:p>
            <a:pPr lvl="1"/>
            <a:endParaRPr lang="en-US" sz="1100" dirty="0"/>
          </a:p>
          <a:p>
            <a:pPr>
              <a:buFont typeface="Wingdings" pitchFamily="2" charset="2"/>
              <a:buChar char="q"/>
            </a:pPr>
            <a:r>
              <a:rPr lang="en-US" dirty="0"/>
              <a:t>Peace, but not harmony. </a:t>
            </a:r>
          </a:p>
          <a:p>
            <a:pPr lvl="1">
              <a:buFont typeface="Wingdings" pitchFamily="2" charset="2"/>
              <a:buChar char="Ø"/>
            </a:pPr>
            <a:r>
              <a:rPr lang="en-US" dirty="0"/>
              <a:t>E.g., the Cold War</a:t>
            </a:r>
          </a:p>
          <a:p>
            <a:endParaRPr lang="en-US" dirty="0"/>
          </a:p>
        </p:txBody>
      </p:sp>
      <p:grpSp>
        <p:nvGrpSpPr>
          <p:cNvPr id="6" name="Group 5">
            <a:extLst>
              <a:ext uri="{FF2B5EF4-FFF2-40B4-BE49-F238E27FC236}">
                <a16:creationId xmlns:a16="http://schemas.microsoft.com/office/drawing/2014/main" id="{22EE0929-F8EF-1947-908C-02CC1FF91934}"/>
              </a:ext>
            </a:extLst>
          </p:cNvPr>
          <p:cNvGrpSpPr/>
          <p:nvPr/>
        </p:nvGrpSpPr>
        <p:grpSpPr>
          <a:xfrm>
            <a:off x="5334000" y="4140200"/>
            <a:ext cx="3619500" cy="2782332"/>
            <a:chOff x="5334000" y="4140200"/>
            <a:chExt cx="3619500" cy="2782332"/>
          </a:xfrm>
        </p:grpSpPr>
        <p:pic>
          <p:nvPicPr>
            <p:cNvPr id="5" name="Picture 4" descr="Cartoon of two men standing on a scale with a rocket and a rocket on it&#10;&#10;Description automatically generated">
              <a:extLst>
                <a:ext uri="{FF2B5EF4-FFF2-40B4-BE49-F238E27FC236}">
                  <a16:creationId xmlns:a16="http://schemas.microsoft.com/office/drawing/2014/main" id="{16CCB571-D203-62A3-BA21-37A4BD6F6C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0" y="4140200"/>
              <a:ext cx="3619500" cy="2413000"/>
            </a:xfrm>
            <a:prstGeom prst="rect">
              <a:avLst/>
            </a:prstGeom>
          </p:spPr>
        </p:pic>
        <p:sp>
          <p:nvSpPr>
            <p:cNvPr id="4" name="TextBox 3">
              <a:extLst>
                <a:ext uri="{FF2B5EF4-FFF2-40B4-BE49-F238E27FC236}">
                  <a16:creationId xmlns:a16="http://schemas.microsoft.com/office/drawing/2014/main" id="{9A481DFC-1E76-4DBA-69B7-1275BAA515A0}"/>
                </a:ext>
              </a:extLst>
            </p:cNvPr>
            <p:cNvSpPr txBox="1"/>
            <p:nvPr/>
          </p:nvSpPr>
          <p:spPr>
            <a:xfrm>
              <a:off x="5715000" y="6553200"/>
              <a:ext cx="2743200" cy="369332"/>
            </a:xfrm>
            <a:prstGeom prst="rect">
              <a:avLst/>
            </a:prstGeom>
            <a:noFill/>
          </p:spPr>
          <p:txBody>
            <a:bodyPr wrap="square" rtlCol="0">
              <a:spAutoFit/>
            </a:bodyPr>
            <a:lstStyle/>
            <a:p>
              <a:pPr marL="285750" indent="-285750" algn="ctr">
                <a:buClr>
                  <a:schemeClr val="accent1"/>
                </a:buClr>
                <a:buFont typeface="Wingdings" pitchFamily="2" charset="2"/>
                <a:buChar char="§"/>
              </a:pPr>
              <a:r>
                <a:rPr lang="en-US" dirty="0">
                  <a:solidFill>
                    <a:schemeClr val="tx2"/>
                  </a:solidFill>
                </a:rPr>
                <a:t>Truman and Stalin</a:t>
              </a:r>
            </a:p>
          </p:txBody>
        </p:sp>
      </p:grpSp>
    </p:spTree>
    <p:extLst>
      <p:ext uri="{BB962C8B-B14F-4D97-AF65-F5344CB8AC3E}">
        <p14:creationId xmlns:p14="http://schemas.microsoft.com/office/powerpoint/2010/main" val="11462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altLang="en-US" dirty="0"/>
              <a:t>Types of Realism</a:t>
            </a:r>
          </a:p>
        </p:txBody>
      </p:sp>
      <p:sp>
        <p:nvSpPr>
          <p:cNvPr id="7171" name="Content Placeholder 3"/>
          <p:cNvSpPr>
            <a:spLocks noGrp="1"/>
          </p:cNvSpPr>
          <p:nvPr>
            <p:ph idx="1"/>
          </p:nvPr>
        </p:nvSpPr>
        <p:spPr>
          <a:xfrm>
            <a:off x="872067" y="1905000"/>
            <a:ext cx="7408333" cy="4221163"/>
          </a:xfrm>
        </p:spPr>
        <p:txBody>
          <a:bodyPr/>
          <a:lstStyle/>
          <a:p>
            <a:pPr>
              <a:buFont typeface="Wingdings" pitchFamily="2" charset="2"/>
              <a:buChar char="q"/>
            </a:pPr>
            <a:r>
              <a:rPr lang="en-US" altLang="en-US" b="1" dirty="0"/>
              <a:t>Classical Realism</a:t>
            </a:r>
            <a:r>
              <a:rPr lang="en-US" altLang="en-US" dirty="0"/>
              <a:t>: Focuses on the idea that human nature is inherently evil.</a:t>
            </a:r>
          </a:p>
          <a:p>
            <a:pPr>
              <a:buFont typeface="Wingdings" pitchFamily="2" charset="2"/>
              <a:buChar char="q"/>
            </a:pPr>
            <a:endParaRPr lang="en-US" altLang="en-US" sz="1500" dirty="0"/>
          </a:p>
          <a:p>
            <a:pPr>
              <a:buFont typeface="Wingdings" pitchFamily="2" charset="2"/>
              <a:buChar char="q"/>
            </a:pPr>
            <a:r>
              <a:rPr lang="en-US" altLang="en-US" b="1" dirty="0"/>
              <a:t>Neorealism</a:t>
            </a:r>
            <a:r>
              <a:rPr lang="en-US" altLang="en-US" dirty="0"/>
              <a:t>: Most common.</a:t>
            </a:r>
          </a:p>
          <a:p>
            <a:pPr>
              <a:buFont typeface="Wingdings" pitchFamily="2" charset="2"/>
              <a:buChar char="q"/>
            </a:pPr>
            <a:endParaRPr lang="en-US" altLang="en-US" sz="1500" dirty="0"/>
          </a:p>
          <a:p>
            <a:pPr>
              <a:buFont typeface="Wingdings" pitchFamily="2" charset="2"/>
              <a:buChar char="q"/>
            </a:pPr>
            <a:r>
              <a:rPr lang="en-US" altLang="en-US" b="1" dirty="0"/>
              <a:t>Offensive Realism</a:t>
            </a:r>
            <a:r>
              <a:rPr lang="en-US" altLang="en-US" dirty="0"/>
              <a:t>: All states are constantly trying to dominate other states.</a:t>
            </a:r>
          </a:p>
          <a:p>
            <a:pPr>
              <a:buFont typeface="Wingdings" pitchFamily="2" charset="2"/>
              <a:buChar char="q"/>
            </a:pPr>
            <a:endParaRPr lang="en-US" altLang="en-US" sz="1500" dirty="0"/>
          </a:p>
          <a:p>
            <a:pPr>
              <a:buFont typeface="Wingdings" pitchFamily="2" charset="2"/>
              <a:buChar char="q"/>
            </a:pPr>
            <a:r>
              <a:rPr lang="en-US" altLang="en-US" b="1" dirty="0"/>
              <a:t>Defensive Realism: </a:t>
            </a:r>
            <a:r>
              <a:rPr lang="en-US" altLang="en-US" dirty="0"/>
              <a:t>A few try to dominate, but most seek to maintain the status quo.</a:t>
            </a:r>
            <a:endParaRPr lang="en-US" altLang="en-US" b="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2" end="2"/>
                                            </p:txEl>
                                          </p:spTgt>
                                        </p:tgtEl>
                                        <p:attrNameLst>
                                          <p:attrName>style.visibility</p:attrName>
                                        </p:attrNameLst>
                                      </p:cBhvr>
                                      <p:to>
                                        <p:strVal val="visible"/>
                                      </p:to>
                                    </p:set>
                                    <p:anim calcmode="lin" valueType="num">
                                      <p:cBhvr additive="base">
                                        <p:cTn id="13"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anim calcmode="lin" valueType="num">
                                      <p:cBhvr additive="base">
                                        <p:cTn id="19"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171">
                                            <p:txEl>
                                              <p:pRg st="6" end="6"/>
                                            </p:txEl>
                                          </p:spTgt>
                                        </p:tgtEl>
                                        <p:attrNameLst>
                                          <p:attrName>style.visibility</p:attrName>
                                        </p:attrNameLst>
                                      </p:cBhvr>
                                      <p:to>
                                        <p:strVal val="visible"/>
                                      </p:to>
                                    </p:set>
                                    <p:anim calcmode="lin" valueType="num">
                                      <p:cBhvr additive="base">
                                        <p:cTn id="25" dur="500" fill="hold"/>
                                        <p:tgtEl>
                                          <p:spTgt spid="717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7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A959E1-8BC7-1766-0C8A-5AEB138F18C9}"/>
              </a:ext>
            </a:extLst>
          </p:cNvPr>
          <p:cNvSpPr>
            <a:spLocks noGrp="1"/>
          </p:cNvSpPr>
          <p:nvPr>
            <p:ph idx="1"/>
          </p:nvPr>
        </p:nvSpPr>
        <p:spPr>
          <a:xfrm>
            <a:off x="609601" y="1905000"/>
            <a:ext cx="5257800" cy="4221163"/>
          </a:xfrm>
        </p:spPr>
        <p:txBody>
          <a:bodyPr/>
          <a:lstStyle/>
          <a:p>
            <a:pPr>
              <a:buFont typeface="Wingdings" pitchFamily="2" charset="2"/>
              <a:buChar char="q"/>
            </a:pPr>
            <a:r>
              <a:rPr lang="en-US" dirty="0"/>
              <a:t>Focuses on human nature</a:t>
            </a:r>
          </a:p>
          <a:p>
            <a:pPr lvl="1">
              <a:buFont typeface="Wingdings" pitchFamily="2" charset="2"/>
              <a:buChar char="Ø"/>
            </a:pPr>
            <a:r>
              <a:rPr lang="en-US" sz="1800" dirty="0"/>
              <a:t>Takes a pessimistic view of human nature—inherently evil, self-interested, and inclined toward conflict.</a:t>
            </a:r>
          </a:p>
          <a:p>
            <a:pPr lvl="1">
              <a:buFont typeface="Wingdings" pitchFamily="2" charset="2"/>
              <a:buChar char="Ø"/>
            </a:pPr>
            <a:r>
              <a:rPr lang="en-US" sz="1800" dirty="0"/>
              <a:t>Emphasizes the immutability of human nature—doomed to war due to its relentless quest for power.</a:t>
            </a:r>
          </a:p>
          <a:p>
            <a:pPr lvl="1">
              <a:buFont typeface="Wingdings" pitchFamily="2" charset="2"/>
              <a:buChar char="Ø"/>
            </a:pPr>
            <a:endParaRPr lang="en-US" sz="1500" dirty="0"/>
          </a:p>
          <a:p>
            <a:pPr>
              <a:buFont typeface="Wingdings" pitchFamily="2" charset="2"/>
              <a:buChar char="q"/>
            </a:pPr>
            <a:r>
              <a:rPr lang="en-US" dirty="0"/>
              <a:t>War is seen as a reflection of state-based aggression—a byproduct of human nature in an anarchic international system.</a:t>
            </a:r>
          </a:p>
          <a:p>
            <a:pPr lvl="1"/>
            <a:endParaRPr lang="en-US" dirty="0"/>
          </a:p>
        </p:txBody>
      </p:sp>
      <p:sp>
        <p:nvSpPr>
          <p:cNvPr id="3" name="Title 2">
            <a:extLst>
              <a:ext uri="{FF2B5EF4-FFF2-40B4-BE49-F238E27FC236}">
                <a16:creationId xmlns:a16="http://schemas.microsoft.com/office/drawing/2014/main" id="{150614DB-2158-523C-E21F-6AE8B9ADF304}"/>
              </a:ext>
            </a:extLst>
          </p:cNvPr>
          <p:cNvSpPr>
            <a:spLocks noGrp="1"/>
          </p:cNvSpPr>
          <p:nvPr>
            <p:ph type="title"/>
          </p:nvPr>
        </p:nvSpPr>
        <p:spPr/>
        <p:txBody>
          <a:bodyPr/>
          <a:lstStyle/>
          <a:p>
            <a:r>
              <a:rPr lang="en-US" dirty="0"/>
              <a:t>Classical Realism</a:t>
            </a:r>
          </a:p>
        </p:txBody>
      </p:sp>
      <p:grpSp>
        <p:nvGrpSpPr>
          <p:cNvPr id="6" name="Group 5">
            <a:extLst>
              <a:ext uri="{FF2B5EF4-FFF2-40B4-BE49-F238E27FC236}">
                <a16:creationId xmlns:a16="http://schemas.microsoft.com/office/drawing/2014/main" id="{90164CE9-00E3-150F-89BB-2F4078F0FA2A}"/>
              </a:ext>
            </a:extLst>
          </p:cNvPr>
          <p:cNvGrpSpPr/>
          <p:nvPr/>
        </p:nvGrpSpPr>
        <p:grpSpPr>
          <a:xfrm>
            <a:off x="5638800" y="2667000"/>
            <a:ext cx="3335867" cy="2883932"/>
            <a:chOff x="5638800" y="2667000"/>
            <a:chExt cx="3335867" cy="2883932"/>
          </a:xfrm>
        </p:grpSpPr>
        <p:pic>
          <p:nvPicPr>
            <p:cNvPr id="5" name="Picture 4" descr="A silhouette of a person's head and various objects&#10;&#10;Description automatically generated">
              <a:extLst>
                <a:ext uri="{FF2B5EF4-FFF2-40B4-BE49-F238E27FC236}">
                  <a16:creationId xmlns:a16="http://schemas.microsoft.com/office/drawing/2014/main" id="{FCFC78FF-7B66-07D5-7002-4161492487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8800" y="2667000"/>
              <a:ext cx="3335867" cy="2223911"/>
            </a:xfrm>
            <a:prstGeom prst="rect">
              <a:avLst/>
            </a:prstGeom>
          </p:spPr>
        </p:pic>
        <p:sp>
          <p:nvSpPr>
            <p:cNvPr id="4" name="TextBox 3">
              <a:extLst>
                <a:ext uri="{FF2B5EF4-FFF2-40B4-BE49-F238E27FC236}">
                  <a16:creationId xmlns:a16="http://schemas.microsoft.com/office/drawing/2014/main" id="{69E0D913-26E9-CC61-A257-E3C4EAF72DEA}"/>
                </a:ext>
              </a:extLst>
            </p:cNvPr>
            <p:cNvSpPr txBox="1"/>
            <p:nvPr/>
          </p:nvSpPr>
          <p:spPr>
            <a:xfrm>
              <a:off x="6172200" y="5181600"/>
              <a:ext cx="2209800" cy="369332"/>
            </a:xfrm>
            <a:prstGeom prst="rect">
              <a:avLst/>
            </a:prstGeom>
            <a:noFill/>
          </p:spPr>
          <p:txBody>
            <a:bodyPr wrap="square" rtlCol="0">
              <a:spAutoFit/>
            </a:bodyPr>
            <a:lstStyle/>
            <a:p>
              <a:pPr marL="285750" indent="-285750" algn="ctr">
                <a:buClr>
                  <a:schemeClr val="accent1"/>
                </a:buClr>
                <a:buFont typeface="Wingdings" pitchFamily="2" charset="2"/>
                <a:buChar char="§"/>
              </a:pPr>
              <a:r>
                <a:rPr lang="en-US" dirty="0">
                  <a:solidFill>
                    <a:schemeClr val="tx2"/>
                  </a:solidFill>
                </a:rPr>
                <a:t>Human nature?</a:t>
              </a:r>
            </a:p>
          </p:txBody>
        </p:sp>
      </p:grpSp>
    </p:spTree>
    <p:extLst>
      <p:ext uri="{BB962C8B-B14F-4D97-AF65-F5344CB8AC3E}">
        <p14:creationId xmlns:p14="http://schemas.microsoft.com/office/powerpoint/2010/main" val="2268483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E2C451-BE44-FC45-6B37-D72E8B820D8E}"/>
              </a:ext>
            </a:extLst>
          </p:cNvPr>
          <p:cNvSpPr>
            <a:spLocks noGrp="1"/>
          </p:cNvSpPr>
          <p:nvPr>
            <p:ph idx="1"/>
          </p:nvPr>
        </p:nvSpPr>
        <p:spPr>
          <a:xfrm>
            <a:off x="609601" y="1676400"/>
            <a:ext cx="6781800" cy="4843272"/>
          </a:xfrm>
        </p:spPr>
        <p:txBody>
          <a:bodyPr>
            <a:normAutofit/>
          </a:bodyPr>
          <a:lstStyle/>
          <a:p>
            <a:pPr>
              <a:buFont typeface="Wingdings" pitchFamily="2" charset="2"/>
              <a:buChar char="q"/>
            </a:pPr>
            <a:r>
              <a:rPr lang="en-US" dirty="0"/>
              <a:t>Waltz (1979): </a:t>
            </a:r>
            <a:r>
              <a:rPr lang="en-US" i="1" dirty="0"/>
              <a:t>Theory of International Politics</a:t>
            </a:r>
          </a:p>
          <a:p>
            <a:pPr lvl="1">
              <a:buFont typeface="Wingdings" pitchFamily="2" charset="2"/>
              <a:buChar char="Ø"/>
            </a:pPr>
            <a:r>
              <a:rPr lang="en-US" sz="2000" dirty="0"/>
              <a:t>States as rational </a:t>
            </a:r>
            <a:r>
              <a:rPr lang="en-US" sz="2000" b="1" dirty="0"/>
              <a:t>unitary</a:t>
            </a:r>
            <a:r>
              <a:rPr lang="en-US" sz="2000" dirty="0"/>
              <a:t> actors maximize power and security.</a:t>
            </a:r>
          </a:p>
          <a:p>
            <a:pPr lvl="1">
              <a:buFont typeface="Wingdings" pitchFamily="2" charset="2"/>
              <a:buChar char="Ø"/>
            </a:pPr>
            <a:endParaRPr lang="en-US" sz="1000" dirty="0"/>
          </a:p>
          <a:p>
            <a:pPr lvl="1">
              <a:buFont typeface="Wingdings" pitchFamily="2" charset="2"/>
              <a:buChar char="Ø"/>
            </a:pPr>
            <a:r>
              <a:rPr lang="en-US" sz="2000" dirty="0"/>
              <a:t>The structure of international system, or the distribution of power, shapes state behavior.</a:t>
            </a:r>
          </a:p>
          <a:p>
            <a:pPr lvl="1">
              <a:buFont typeface="Wingdings" pitchFamily="2" charset="2"/>
              <a:buChar char="Ø"/>
            </a:pPr>
            <a:endParaRPr lang="en-US" sz="1000" dirty="0"/>
          </a:p>
          <a:p>
            <a:pPr lvl="1">
              <a:buFont typeface="Wingdings" pitchFamily="2" charset="2"/>
              <a:buChar char="Ø"/>
            </a:pPr>
            <a:r>
              <a:rPr lang="en-US" sz="2000" dirty="0"/>
              <a:t>Bipolarity is better and more stable than multipolarity.</a:t>
            </a:r>
          </a:p>
          <a:p>
            <a:pPr lvl="2">
              <a:buFont typeface="Wingdings" pitchFamily="2" charset="2"/>
              <a:buChar char="v"/>
            </a:pPr>
            <a:r>
              <a:rPr lang="en-US" sz="1800" b="1" dirty="0"/>
              <a:t>Bipolarity</a:t>
            </a:r>
            <a:r>
              <a:rPr lang="en-US" sz="1800" dirty="0"/>
              <a:t> (two rivals/hegemons) </a:t>
            </a:r>
          </a:p>
          <a:p>
            <a:pPr lvl="3">
              <a:buFont typeface="Wingdings" pitchFamily="2" charset="2"/>
              <a:buChar char="§"/>
            </a:pPr>
            <a:r>
              <a:rPr lang="en-US" sz="1600" dirty="0"/>
              <a:t>Keep track of each other</a:t>
            </a:r>
          </a:p>
          <a:p>
            <a:pPr lvl="2">
              <a:buFont typeface="Wingdings" pitchFamily="2" charset="2"/>
              <a:buChar char="v"/>
            </a:pPr>
            <a:r>
              <a:rPr lang="en-US" sz="1800" b="1" dirty="0"/>
              <a:t>Multipolarity</a:t>
            </a:r>
            <a:r>
              <a:rPr lang="en-US" sz="1800" dirty="0"/>
              <a:t>: (three or more great powers)</a:t>
            </a:r>
          </a:p>
          <a:p>
            <a:pPr lvl="3">
              <a:buFont typeface="Wingdings" pitchFamily="2" charset="2"/>
              <a:buChar char="§"/>
            </a:pPr>
            <a:r>
              <a:rPr lang="en-US" sz="1600" dirty="0"/>
              <a:t>“dangers are diffused, responsibilities unclear, and definitions of vital interests easily obscured.”</a:t>
            </a:r>
          </a:p>
          <a:p>
            <a:pPr lvl="2"/>
            <a:endParaRPr lang="en-US" sz="1000" dirty="0"/>
          </a:p>
          <a:p>
            <a:pPr>
              <a:buFont typeface="Wingdings" pitchFamily="2" charset="2"/>
              <a:buChar char="q"/>
            </a:pPr>
            <a:r>
              <a:rPr lang="en-US" dirty="0"/>
              <a:t>Hegemonic Stability Theory</a:t>
            </a:r>
          </a:p>
          <a:p>
            <a:endParaRPr lang="en-US" dirty="0"/>
          </a:p>
        </p:txBody>
      </p:sp>
      <p:sp>
        <p:nvSpPr>
          <p:cNvPr id="3" name="Title 2">
            <a:extLst>
              <a:ext uri="{FF2B5EF4-FFF2-40B4-BE49-F238E27FC236}">
                <a16:creationId xmlns:a16="http://schemas.microsoft.com/office/drawing/2014/main" id="{D705AADE-4E30-40E4-FB31-3BB711AC3639}"/>
              </a:ext>
            </a:extLst>
          </p:cNvPr>
          <p:cNvSpPr>
            <a:spLocks noGrp="1"/>
          </p:cNvSpPr>
          <p:nvPr>
            <p:ph type="title"/>
          </p:nvPr>
        </p:nvSpPr>
        <p:spPr/>
        <p:txBody>
          <a:bodyPr/>
          <a:lstStyle/>
          <a:p>
            <a:r>
              <a:rPr lang="en-US" dirty="0"/>
              <a:t>Neorealism</a:t>
            </a:r>
          </a:p>
        </p:txBody>
      </p:sp>
      <p:grpSp>
        <p:nvGrpSpPr>
          <p:cNvPr id="6" name="Group 5">
            <a:extLst>
              <a:ext uri="{FF2B5EF4-FFF2-40B4-BE49-F238E27FC236}">
                <a16:creationId xmlns:a16="http://schemas.microsoft.com/office/drawing/2014/main" id="{FF4E8DDB-2436-4702-CF13-3D4536EC6B2C}"/>
              </a:ext>
            </a:extLst>
          </p:cNvPr>
          <p:cNvGrpSpPr/>
          <p:nvPr/>
        </p:nvGrpSpPr>
        <p:grpSpPr>
          <a:xfrm>
            <a:off x="7162800" y="1701800"/>
            <a:ext cx="1905000" cy="2983131"/>
            <a:chOff x="7162800" y="1701800"/>
            <a:chExt cx="1905000" cy="2983131"/>
          </a:xfrm>
        </p:grpSpPr>
        <p:pic>
          <p:nvPicPr>
            <p:cNvPr id="5" name="Picture 4" descr="A person wearing glasses and a bow tie&#10;&#10;Description automatically generated">
              <a:extLst>
                <a:ext uri="{FF2B5EF4-FFF2-40B4-BE49-F238E27FC236}">
                  <a16:creationId xmlns:a16="http://schemas.microsoft.com/office/drawing/2014/main" id="{70458A77-0BF2-1C88-2745-D76D9DBFD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1401" y="1701800"/>
              <a:ext cx="1422400" cy="2032000"/>
            </a:xfrm>
            <a:prstGeom prst="rect">
              <a:avLst/>
            </a:prstGeom>
          </p:spPr>
        </p:pic>
        <p:sp>
          <p:nvSpPr>
            <p:cNvPr id="4" name="TextBox 3">
              <a:extLst>
                <a:ext uri="{FF2B5EF4-FFF2-40B4-BE49-F238E27FC236}">
                  <a16:creationId xmlns:a16="http://schemas.microsoft.com/office/drawing/2014/main" id="{F60795FB-40F5-5F10-B0AD-8A16FBDC50AC}"/>
                </a:ext>
              </a:extLst>
            </p:cNvPr>
            <p:cNvSpPr txBox="1"/>
            <p:nvPr/>
          </p:nvSpPr>
          <p:spPr>
            <a:xfrm>
              <a:off x="7162800" y="4038600"/>
              <a:ext cx="1905000" cy="646331"/>
            </a:xfrm>
            <a:prstGeom prst="rect">
              <a:avLst/>
            </a:prstGeom>
            <a:noFill/>
          </p:spPr>
          <p:txBody>
            <a:bodyPr wrap="square" rtlCol="0">
              <a:spAutoFit/>
            </a:bodyPr>
            <a:lstStyle/>
            <a:p>
              <a:pPr marL="285750" indent="-285750">
                <a:buClr>
                  <a:schemeClr val="accent1"/>
                </a:buClr>
                <a:buFont typeface="Wingdings" pitchFamily="2" charset="2"/>
                <a:buChar char="§"/>
              </a:pPr>
              <a:r>
                <a:rPr lang="en-US" dirty="0">
                  <a:solidFill>
                    <a:schemeClr val="tx2"/>
                  </a:solidFill>
                </a:rPr>
                <a:t>Kenneth Waltz (1924–2013)</a:t>
              </a:r>
            </a:p>
          </p:txBody>
        </p:sp>
      </p:grpSp>
    </p:spTree>
    <p:extLst>
      <p:ext uri="{BB962C8B-B14F-4D97-AF65-F5344CB8AC3E}">
        <p14:creationId xmlns:p14="http://schemas.microsoft.com/office/powerpoint/2010/main" val="1470423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41FCE02-A190-02CB-BED7-1926CFE8C2B0}"/>
              </a:ext>
            </a:extLst>
          </p:cNvPr>
          <p:cNvSpPr>
            <a:spLocks noGrp="1"/>
          </p:cNvSpPr>
          <p:nvPr>
            <p:ph type="title"/>
          </p:nvPr>
        </p:nvSpPr>
        <p:spPr/>
        <p:txBody>
          <a:bodyPr/>
          <a:lstStyle/>
          <a:p>
            <a:r>
              <a:rPr lang="en-US" kern="0" dirty="0"/>
              <a:t>Classical Realism vs Neorealism</a:t>
            </a:r>
            <a:endParaRPr lang="en-US" dirty="0"/>
          </a:p>
        </p:txBody>
      </p:sp>
      <p:graphicFrame>
        <p:nvGraphicFramePr>
          <p:cNvPr id="4" name="Table 3">
            <a:extLst>
              <a:ext uri="{FF2B5EF4-FFF2-40B4-BE49-F238E27FC236}">
                <a16:creationId xmlns:a16="http://schemas.microsoft.com/office/drawing/2014/main" id="{BCA4E0F7-51A6-98D3-6268-8CD2E38A36AE}"/>
              </a:ext>
            </a:extLst>
          </p:cNvPr>
          <p:cNvGraphicFramePr>
            <a:graphicFrameLocks noGrp="1"/>
          </p:cNvGraphicFramePr>
          <p:nvPr>
            <p:extLst>
              <p:ext uri="{D42A27DB-BD31-4B8C-83A1-F6EECF244321}">
                <p14:modId xmlns:p14="http://schemas.microsoft.com/office/powerpoint/2010/main" val="3275965832"/>
              </p:ext>
            </p:extLst>
          </p:nvPr>
        </p:nvGraphicFramePr>
        <p:xfrm>
          <a:off x="381000" y="1752600"/>
          <a:ext cx="8229600" cy="4495801"/>
        </p:xfrm>
        <a:graphic>
          <a:graphicData uri="http://schemas.openxmlformats.org/drawingml/2006/table">
            <a:tbl>
              <a:tblPr firstRow="1" firstCol="1" bandRow="1">
                <a:tableStyleId>{5C22544A-7EE6-4342-B048-85BDC9FD1C3A}</a:tableStyleId>
              </a:tblPr>
              <a:tblGrid>
                <a:gridCol w="2237173">
                  <a:extLst>
                    <a:ext uri="{9D8B030D-6E8A-4147-A177-3AD203B41FA5}">
                      <a16:colId xmlns:a16="http://schemas.microsoft.com/office/drawing/2014/main" val="1712139843"/>
                    </a:ext>
                  </a:extLst>
                </a:gridCol>
                <a:gridCol w="3249227">
                  <a:extLst>
                    <a:ext uri="{9D8B030D-6E8A-4147-A177-3AD203B41FA5}">
                      <a16:colId xmlns:a16="http://schemas.microsoft.com/office/drawing/2014/main" val="3045800651"/>
                    </a:ext>
                  </a:extLst>
                </a:gridCol>
                <a:gridCol w="2743200">
                  <a:extLst>
                    <a:ext uri="{9D8B030D-6E8A-4147-A177-3AD203B41FA5}">
                      <a16:colId xmlns:a16="http://schemas.microsoft.com/office/drawing/2014/main" val="1213320205"/>
                    </a:ext>
                  </a:extLst>
                </a:gridCol>
              </a:tblGrid>
              <a:tr h="374924">
                <a:tc>
                  <a:txBody>
                    <a:bodyPr/>
                    <a:lstStyle/>
                    <a:p>
                      <a:pPr marL="0" marR="0" algn="ctr">
                        <a:lnSpc>
                          <a:spcPct val="115000"/>
                        </a:lnSpc>
                        <a:spcAft>
                          <a:spcPts val="800"/>
                        </a:spcAft>
                        <a:buNone/>
                      </a:pPr>
                      <a:r>
                        <a:rPr lang="en-US" sz="1600" kern="0" dirty="0">
                          <a:effectLst/>
                        </a:rPr>
                        <a:t>Feature</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600" kern="0" dirty="0">
                          <a:effectLst/>
                        </a:rPr>
                        <a:t>Classical Realism</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1600" kern="0" dirty="0">
                          <a:effectLst/>
                        </a:rPr>
                        <a:t>Neorealism</a:t>
                      </a:r>
                      <a:endParaRPr lang="en-US" sz="16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036947784"/>
                  </a:ext>
                </a:extLst>
              </a:tr>
              <a:tr h="733875">
                <a:tc>
                  <a:txBody>
                    <a:bodyPr/>
                    <a:lstStyle/>
                    <a:p>
                      <a:pPr marL="0" marR="0">
                        <a:lnSpc>
                          <a:spcPct val="115000"/>
                        </a:lnSpc>
                        <a:spcAft>
                          <a:spcPts val="800"/>
                        </a:spcAft>
                        <a:buNone/>
                      </a:pPr>
                      <a:r>
                        <a:rPr lang="en-US" sz="1400" kern="0" dirty="0">
                          <a:effectLst/>
                        </a:rPr>
                        <a:t>Main Focus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Human nature and the inherent flaws of people.</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a:solidFill>
                            <a:schemeClr val="tx2"/>
                          </a:solidFill>
                          <a:effectLst/>
                        </a:rPr>
                        <a:t>The structure of the international system.</a:t>
                      </a:r>
                      <a:endParaRPr lang="en-US" sz="1400" kern="10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321028751"/>
                  </a:ext>
                </a:extLst>
              </a:tr>
              <a:tr h="826550">
                <a:tc>
                  <a:txBody>
                    <a:bodyPr/>
                    <a:lstStyle/>
                    <a:p>
                      <a:pPr marL="0" marR="0">
                        <a:lnSpc>
                          <a:spcPct val="115000"/>
                        </a:lnSpc>
                        <a:spcAft>
                          <a:spcPts val="800"/>
                        </a:spcAft>
                        <a:buNone/>
                      </a:pPr>
                      <a:r>
                        <a:rPr lang="en-US" sz="1400" kern="0" dirty="0">
                          <a:effectLst/>
                        </a:rPr>
                        <a:t>View of Anarchy</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A condition that allows human selfishness to show.</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The defining feature of world politics that forces states to protect themselves.</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1556792047"/>
                  </a:ext>
                </a:extLst>
              </a:tr>
              <a:tr h="733875">
                <a:tc>
                  <a:txBody>
                    <a:bodyPr/>
                    <a:lstStyle/>
                    <a:p>
                      <a:pPr marL="0" marR="0">
                        <a:lnSpc>
                          <a:spcPct val="115000"/>
                        </a:lnSpc>
                        <a:spcAft>
                          <a:spcPts val="800"/>
                        </a:spcAft>
                        <a:buNone/>
                      </a:pPr>
                      <a:r>
                        <a:rPr lang="en-US" sz="1400" kern="0" dirty="0">
                          <a:effectLst/>
                        </a:rPr>
                        <a:t>Why States Seek Power</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Power is a goal in itself because humans naturally crave domination.</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Power is a tool for survival in an unsafe, anarchic world.</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451741650"/>
                  </a:ext>
                </a:extLst>
              </a:tr>
              <a:tr h="1092702">
                <a:tc>
                  <a:txBody>
                    <a:bodyPr/>
                    <a:lstStyle/>
                    <a:p>
                      <a:pPr marL="0" marR="0">
                        <a:lnSpc>
                          <a:spcPct val="115000"/>
                        </a:lnSpc>
                        <a:spcAft>
                          <a:spcPts val="800"/>
                        </a:spcAft>
                        <a:buNone/>
                      </a:pPr>
                      <a:r>
                        <a:rPr lang="en-US" sz="1400" kern="0" dirty="0">
                          <a:effectLst/>
                        </a:rPr>
                        <a:t>View of Domestic Politics</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a:solidFill>
                            <a:schemeClr val="tx2"/>
                          </a:solidFill>
                          <a:effectLst/>
                        </a:rPr>
                        <a:t>Matters a lot; the type of regime and leadership quality change foreign policy.</a:t>
                      </a:r>
                      <a:endParaRPr lang="en-US" sz="1400" kern="10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Ignored or treated as secondary; all states act similarly based on system pressures.</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695681484"/>
                  </a:ext>
                </a:extLst>
              </a:tr>
              <a:tr h="733875">
                <a:tc>
                  <a:txBody>
                    <a:bodyPr/>
                    <a:lstStyle/>
                    <a:p>
                      <a:pPr marL="0" marR="0">
                        <a:lnSpc>
                          <a:spcPct val="115000"/>
                        </a:lnSpc>
                        <a:spcAft>
                          <a:spcPts val="800"/>
                        </a:spcAft>
                        <a:buNone/>
                      </a:pPr>
                      <a:r>
                        <a:rPr lang="en-US" sz="1400" kern="0" dirty="0">
                          <a:effectLst/>
                        </a:rPr>
                        <a:t>Cause of War</a:t>
                      </a:r>
                      <a:endParaRPr lang="en-US" sz="1400" kern="100" dirty="0">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a:solidFill>
                            <a:schemeClr val="tx2"/>
                          </a:solidFill>
                          <a:effectLst/>
                        </a:rPr>
                        <a:t>Aggressive human leaders and the lust for power.</a:t>
                      </a:r>
                      <a:endParaRPr lang="en-US" sz="1400" kern="10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1400" kern="0" dirty="0">
                          <a:solidFill>
                            <a:schemeClr val="tx2"/>
                          </a:solidFill>
                          <a:effectLst/>
                        </a:rPr>
                        <a:t>The security dilemma and fear caused by a lack of a global police.</a:t>
                      </a:r>
                      <a:endParaRPr lang="en-US" sz="1400" kern="100" dirty="0">
                        <a:solidFill>
                          <a:schemeClr val="tx2"/>
                        </a:solidFill>
                        <a:effectLst/>
                        <a:latin typeface="Aptos" panose="020B0004020202020204" pitchFamily="34" charset="0"/>
                        <a:ea typeface="DengXian" panose="02010600030101010101" pitchFamily="2" charset="-122"/>
                        <a:cs typeface="Times New Roman" panose="02020603050405020304" pitchFamily="18" charset="0"/>
                      </a:endParaRPr>
                    </a:p>
                  </a:txBody>
                  <a:tcPr marL="9525" marR="9525" marT="9525" marB="9525" anchor="ctr"/>
                </a:tc>
                <a:extLst>
                  <a:ext uri="{0D108BD9-81ED-4DB2-BD59-A6C34878D82A}">
                    <a16:rowId xmlns:a16="http://schemas.microsoft.com/office/drawing/2014/main" val="2267676336"/>
                  </a:ext>
                </a:extLst>
              </a:tr>
            </a:tbl>
          </a:graphicData>
        </a:graphic>
      </p:graphicFrame>
    </p:spTree>
    <p:extLst>
      <p:ext uri="{BB962C8B-B14F-4D97-AF65-F5344CB8AC3E}">
        <p14:creationId xmlns:p14="http://schemas.microsoft.com/office/powerpoint/2010/main" val="999995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B7219E-9909-812F-C031-D1FFA103AA76}"/>
              </a:ext>
            </a:extLst>
          </p:cNvPr>
          <p:cNvSpPr>
            <a:spLocks noGrp="1"/>
          </p:cNvSpPr>
          <p:nvPr>
            <p:ph idx="1"/>
          </p:nvPr>
        </p:nvSpPr>
        <p:spPr>
          <a:xfrm>
            <a:off x="685800" y="1828800"/>
            <a:ext cx="7848599" cy="4297363"/>
          </a:xfrm>
        </p:spPr>
        <p:txBody>
          <a:bodyPr>
            <a:normAutofit/>
          </a:bodyPr>
          <a:lstStyle/>
          <a:p>
            <a:pPr>
              <a:buFont typeface="Wingdings" pitchFamily="2" charset="2"/>
              <a:buChar char="q"/>
            </a:pPr>
            <a:r>
              <a:rPr lang="en-US" dirty="0"/>
              <a:t>Van </a:t>
            </a:r>
            <a:r>
              <a:rPr lang="en-US" dirty="0" err="1"/>
              <a:t>Evera</a:t>
            </a:r>
            <a:r>
              <a:rPr lang="en-US" dirty="0"/>
              <a:t> (1999): </a:t>
            </a:r>
            <a:r>
              <a:rPr lang="en-US" i="1" dirty="0"/>
              <a:t>Causes of War.</a:t>
            </a:r>
          </a:p>
          <a:p>
            <a:endParaRPr lang="en-US" sz="1000" dirty="0"/>
          </a:p>
          <a:p>
            <a:pPr>
              <a:buFont typeface="Wingdings" pitchFamily="2" charset="2"/>
              <a:buChar char="q"/>
            </a:pPr>
            <a:r>
              <a:rPr lang="en-US" dirty="0"/>
              <a:t>Adds a key variable: the offense-defense balance.</a:t>
            </a:r>
          </a:p>
          <a:p>
            <a:pPr lvl="1">
              <a:buFont typeface="Wingdings" pitchFamily="2" charset="2"/>
              <a:buChar char="Ø"/>
            </a:pPr>
            <a:r>
              <a:rPr lang="en-US" sz="1800" dirty="0"/>
              <a:t>“prevailing technologies or geographical circumstances often favor defense, seized resources do not cumulate easily with those already possessed by the metropole, dominoes do not fall, and power is difficult to project at a distance.”</a:t>
            </a:r>
          </a:p>
          <a:p>
            <a:pPr lvl="1"/>
            <a:endParaRPr lang="en-US" sz="1000" dirty="0"/>
          </a:p>
          <a:p>
            <a:pPr>
              <a:buFont typeface="Wingdings" pitchFamily="2" charset="2"/>
              <a:buChar char="q"/>
            </a:pPr>
            <a:r>
              <a:rPr lang="en-US" dirty="0"/>
              <a:t>Rationality + a strategic balance =&gt; uphold the status quo much more often; balancing is the appropriate choice.</a:t>
            </a:r>
          </a:p>
          <a:p>
            <a:pPr lvl="1">
              <a:buFont typeface="Wingdings" pitchFamily="2" charset="2"/>
              <a:buChar char="Ø"/>
            </a:pPr>
            <a:r>
              <a:rPr lang="en-US" sz="1800" dirty="0"/>
              <a:t>Relatively rare occurrence of interstate war.</a:t>
            </a:r>
          </a:p>
        </p:txBody>
      </p:sp>
      <p:sp>
        <p:nvSpPr>
          <p:cNvPr id="3" name="Title 2">
            <a:extLst>
              <a:ext uri="{FF2B5EF4-FFF2-40B4-BE49-F238E27FC236}">
                <a16:creationId xmlns:a16="http://schemas.microsoft.com/office/drawing/2014/main" id="{302C7DB5-505F-9934-C7C9-09FCADBAEF49}"/>
              </a:ext>
            </a:extLst>
          </p:cNvPr>
          <p:cNvSpPr>
            <a:spLocks noGrp="1"/>
          </p:cNvSpPr>
          <p:nvPr>
            <p:ph type="title"/>
          </p:nvPr>
        </p:nvSpPr>
        <p:spPr/>
        <p:txBody>
          <a:bodyPr/>
          <a:lstStyle/>
          <a:p>
            <a:r>
              <a:rPr lang="en-US" dirty="0"/>
              <a:t>Defensive Realism</a:t>
            </a:r>
          </a:p>
        </p:txBody>
      </p:sp>
    </p:spTree>
    <p:extLst>
      <p:ext uri="{BB962C8B-B14F-4D97-AF65-F5344CB8AC3E}">
        <p14:creationId xmlns:p14="http://schemas.microsoft.com/office/powerpoint/2010/main" val="184281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0B7219E-9909-812F-C031-D1FFA103AA76}"/>
              </a:ext>
            </a:extLst>
          </p:cNvPr>
          <p:cNvSpPr>
            <a:spLocks noGrp="1"/>
          </p:cNvSpPr>
          <p:nvPr>
            <p:ph idx="1"/>
          </p:nvPr>
        </p:nvSpPr>
        <p:spPr>
          <a:xfrm>
            <a:off x="685801" y="1905000"/>
            <a:ext cx="8001000" cy="4419600"/>
          </a:xfrm>
        </p:spPr>
        <p:txBody>
          <a:bodyPr>
            <a:normAutofit fontScale="92500"/>
          </a:bodyPr>
          <a:lstStyle/>
          <a:p>
            <a:pPr>
              <a:buFont typeface="Wingdings" pitchFamily="2" charset="2"/>
              <a:buChar char="q"/>
            </a:pPr>
            <a:r>
              <a:rPr lang="en-US" sz="2600" dirty="0"/>
              <a:t>Mearsheimer (2001): </a:t>
            </a:r>
            <a:r>
              <a:rPr lang="en-US" sz="2600" i="1" dirty="0"/>
              <a:t>The Tragedy of Great Power Politics.</a:t>
            </a:r>
          </a:p>
          <a:p>
            <a:pPr lvl="1">
              <a:buFont typeface="Wingdings" pitchFamily="2" charset="2"/>
              <a:buChar char="Ø"/>
            </a:pPr>
            <a:r>
              <a:rPr lang="en-US" sz="1900" dirty="0"/>
              <a:t>Great powers inherently posses some offensive military capability.</a:t>
            </a:r>
          </a:p>
          <a:p>
            <a:pPr lvl="1">
              <a:buFont typeface="Wingdings" pitchFamily="2" charset="2"/>
              <a:buChar char="Ø"/>
            </a:pPr>
            <a:r>
              <a:rPr lang="en-US" sz="1900" dirty="0"/>
              <a:t>States never can be certain about others’ intensions.</a:t>
            </a:r>
          </a:p>
          <a:p>
            <a:endParaRPr lang="en-US" sz="1100" dirty="0"/>
          </a:p>
          <a:p>
            <a:pPr>
              <a:buFont typeface="Wingdings" pitchFamily="2" charset="2"/>
              <a:buChar char="q"/>
            </a:pPr>
            <a:r>
              <a:rPr lang="en-US" sz="2600" dirty="0"/>
              <a:t>Power maximization to obtain higher relative standing as the norm among great powers.</a:t>
            </a:r>
          </a:p>
          <a:p>
            <a:endParaRPr lang="en-US" sz="1100" dirty="0"/>
          </a:p>
          <a:p>
            <a:pPr>
              <a:buFont typeface="Wingdings" pitchFamily="2" charset="2"/>
              <a:buChar char="q"/>
            </a:pPr>
            <a:r>
              <a:rPr lang="en-US" sz="2600" dirty="0"/>
              <a:t>Great powers seek to enhance power and vie for regional hegemony.</a:t>
            </a:r>
          </a:p>
          <a:p>
            <a:endParaRPr lang="en-US" sz="1100" dirty="0"/>
          </a:p>
          <a:p>
            <a:pPr>
              <a:buFont typeface="Wingdings" pitchFamily="2" charset="2"/>
              <a:buChar char="q"/>
            </a:pPr>
            <a:r>
              <a:rPr lang="en-US" sz="2600" dirty="0"/>
              <a:t>This process ultimately constrained only by the stopping power of water.</a:t>
            </a:r>
          </a:p>
          <a:p>
            <a:pPr lvl="1">
              <a:buFont typeface="Wingdings" pitchFamily="2" charset="2"/>
              <a:buChar char="Ø"/>
            </a:pPr>
            <a:r>
              <a:rPr lang="en-US" sz="1900" dirty="0"/>
              <a:t>War is to be expected.</a:t>
            </a:r>
          </a:p>
        </p:txBody>
      </p:sp>
      <p:sp>
        <p:nvSpPr>
          <p:cNvPr id="3" name="Title 2">
            <a:extLst>
              <a:ext uri="{FF2B5EF4-FFF2-40B4-BE49-F238E27FC236}">
                <a16:creationId xmlns:a16="http://schemas.microsoft.com/office/drawing/2014/main" id="{302C7DB5-505F-9934-C7C9-09FCADBAEF49}"/>
              </a:ext>
            </a:extLst>
          </p:cNvPr>
          <p:cNvSpPr>
            <a:spLocks noGrp="1"/>
          </p:cNvSpPr>
          <p:nvPr>
            <p:ph type="title"/>
          </p:nvPr>
        </p:nvSpPr>
        <p:spPr/>
        <p:txBody>
          <a:bodyPr/>
          <a:lstStyle/>
          <a:p>
            <a:r>
              <a:rPr lang="en-US" dirty="0"/>
              <a:t>Offensive Realism</a:t>
            </a:r>
          </a:p>
        </p:txBody>
      </p:sp>
    </p:spTree>
    <p:extLst>
      <p:ext uri="{BB962C8B-B14F-4D97-AF65-F5344CB8AC3E}">
        <p14:creationId xmlns:p14="http://schemas.microsoft.com/office/powerpoint/2010/main" val="3651688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dirty="0"/>
              <a:t>Liberalism</a:t>
            </a:r>
          </a:p>
        </p:txBody>
      </p:sp>
      <p:sp>
        <p:nvSpPr>
          <p:cNvPr id="7171" name="Content Placeholder 2"/>
          <p:cNvSpPr>
            <a:spLocks noGrp="1"/>
          </p:cNvSpPr>
          <p:nvPr>
            <p:ph idx="1"/>
          </p:nvPr>
        </p:nvSpPr>
        <p:spPr>
          <a:xfrm>
            <a:off x="609600" y="1752600"/>
            <a:ext cx="8077200" cy="4800600"/>
          </a:xfrm>
        </p:spPr>
        <p:txBody>
          <a:bodyPr>
            <a:normAutofit/>
          </a:bodyPr>
          <a:lstStyle/>
          <a:p>
            <a:pPr eaLnBrk="1" hangingPunct="1">
              <a:buFont typeface="Wingdings" pitchFamily="2" charset="2"/>
              <a:buChar char="q"/>
            </a:pPr>
            <a:r>
              <a:rPr lang="en-US" altLang="en-US" sz="2800" dirty="0"/>
              <a:t>Anarchy as an inconvenience rather than an existential threat.</a:t>
            </a:r>
          </a:p>
          <a:p>
            <a:pPr lvl="1">
              <a:buFont typeface="Wingdings" pitchFamily="2" charset="2"/>
              <a:buChar char="Ø"/>
            </a:pPr>
            <a:r>
              <a:rPr lang="en-US" altLang="en-US" sz="2400"/>
              <a:t>The pattern </a:t>
            </a:r>
            <a:r>
              <a:rPr lang="en-US" altLang="en-US" sz="2400" dirty="0"/>
              <a:t>of interdependence shapes state behavior.</a:t>
            </a:r>
          </a:p>
          <a:p>
            <a:pPr eaLnBrk="1" hangingPunct="1"/>
            <a:endParaRPr lang="en-US" altLang="en-US" sz="1200" dirty="0"/>
          </a:p>
          <a:p>
            <a:pPr eaLnBrk="1" hangingPunct="1">
              <a:buFont typeface="Wingdings" pitchFamily="2" charset="2"/>
              <a:buChar char="q"/>
            </a:pPr>
            <a:r>
              <a:rPr lang="en-US" altLang="en-US" sz="2800" dirty="0"/>
              <a:t>Uncertainty about others’ intentions</a:t>
            </a:r>
          </a:p>
          <a:p>
            <a:pPr lvl="1" eaLnBrk="1" hangingPunct="1">
              <a:buFont typeface="Wingdings" pitchFamily="2" charset="2"/>
              <a:buChar char="Ø"/>
            </a:pPr>
            <a:r>
              <a:rPr lang="en-US" altLang="en-US" dirty="0"/>
              <a:t>But, easy to signal one’s type.</a:t>
            </a:r>
          </a:p>
          <a:p>
            <a:endParaRPr lang="en-US" altLang="en-US" sz="1200" dirty="0"/>
          </a:p>
          <a:p>
            <a:pPr>
              <a:buFont typeface="Wingdings" pitchFamily="2" charset="2"/>
              <a:buChar char="q"/>
            </a:pPr>
            <a:r>
              <a:rPr lang="en-US" altLang="en-US" sz="2800" dirty="0"/>
              <a:t>Many different types of actors</a:t>
            </a:r>
          </a:p>
          <a:p>
            <a:pPr lvl="1">
              <a:buFont typeface="Wingdings" pitchFamily="2" charset="2"/>
              <a:buChar char="Ø"/>
            </a:pPr>
            <a:r>
              <a:rPr lang="en-US" altLang="en-US" dirty="0"/>
              <a:t>E.g., individuals, firms, int’l organizations, and states.</a:t>
            </a:r>
          </a:p>
          <a:p>
            <a:pPr eaLnBrk="1" hangingPunct="1"/>
            <a:endParaRPr lang="en-US" alt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171">
                                            <p:txEl>
                                              <p:pRg st="1" end="1"/>
                                            </p:txEl>
                                          </p:spTgt>
                                        </p:tgtEl>
                                        <p:attrNameLst>
                                          <p:attrName>style.visibility</p:attrName>
                                        </p:attrNameLst>
                                      </p:cBhvr>
                                      <p:to>
                                        <p:strVal val="visible"/>
                                      </p:to>
                                    </p:set>
                                    <p:anim calcmode="lin" valueType="num">
                                      <p:cBhvr additive="base">
                                        <p:cTn id="13"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anim calcmode="lin" valueType="num">
                                      <p:cBhvr additive="base">
                                        <p:cTn id="19"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anim calcmode="lin" valueType="num">
                                      <p:cBhvr additive="base">
                                        <p:cTn id="23" dur="500" fill="hold"/>
                                        <p:tgtEl>
                                          <p:spTgt spid="717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1">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anim calcmode="lin" valueType="num">
                                      <p:cBhvr additive="base">
                                        <p:cTn id="27" dur="500" fill="hold"/>
                                        <p:tgtEl>
                                          <p:spTgt spid="7171">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1">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171">
                                            <p:txEl>
                                              <p:pRg st="7" end="7"/>
                                            </p:txEl>
                                          </p:spTgt>
                                        </p:tgtEl>
                                        <p:attrNameLst>
                                          <p:attrName>style.visibility</p:attrName>
                                        </p:attrNameLst>
                                      </p:cBhvr>
                                      <p:to>
                                        <p:strVal val="visible"/>
                                      </p:to>
                                    </p:set>
                                    <p:anim calcmode="lin" valueType="num">
                                      <p:cBhvr additive="base">
                                        <p:cTn id="31" dur="500" fill="hold"/>
                                        <p:tgtEl>
                                          <p:spTgt spid="7171">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pPr eaLnBrk="1" hangingPunct="1"/>
            <a:r>
              <a:rPr lang="en-US" altLang="en-US" dirty="0"/>
              <a:t>Liberalism</a:t>
            </a:r>
          </a:p>
        </p:txBody>
      </p:sp>
      <p:sp>
        <p:nvSpPr>
          <p:cNvPr id="7171" name="Content Placeholder 2"/>
          <p:cNvSpPr>
            <a:spLocks noGrp="1"/>
          </p:cNvSpPr>
          <p:nvPr>
            <p:ph idx="1"/>
          </p:nvPr>
        </p:nvSpPr>
        <p:spPr>
          <a:xfrm>
            <a:off x="609600" y="1905000"/>
            <a:ext cx="8077200" cy="4343400"/>
          </a:xfrm>
        </p:spPr>
        <p:txBody>
          <a:bodyPr>
            <a:normAutofit fontScale="85000" lnSpcReduction="10000"/>
          </a:bodyPr>
          <a:lstStyle/>
          <a:p>
            <a:pPr>
              <a:buFont typeface="Wingdings" pitchFamily="2" charset="2"/>
              <a:buChar char="q"/>
            </a:pPr>
            <a:r>
              <a:rPr lang="en-US" altLang="en-US" sz="2800" dirty="0"/>
              <a:t>Governments’ interests come from within, rather than viewing states as unitary actors.</a:t>
            </a:r>
          </a:p>
          <a:p>
            <a:pPr lvl="1">
              <a:buFont typeface="Wingdings" pitchFamily="2" charset="2"/>
              <a:buChar char="Ø"/>
            </a:pPr>
            <a:r>
              <a:rPr lang="en-US" altLang="en-US" sz="2100" dirty="0"/>
              <a:t>Interplay of domestic actors operating within domestic political institutions.</a:t>
            </a:r>
          </a:p>
          <a:p>
            <a:pPr lvl="1">
              <a:buFont typeface="Wingdings" pitchFamily="2" charset="2"/>
              <a:buChar char="q"/>
            </a:pPr>
            <a:endParaRPr lang="en-US" altLang="en-US" sz="1200" dirty="0"/>
          </a:p>
          <a:p>
            <a:pPr>
              <a:buFont typeface="Wingdings" pitchFamily="2" charset="2"/>
              <a:buChar char="q"/>
            </a:pPr>
            <a:r>
              <a:rPr lang="en-US" altLang="en-US" sz="2800" dirty="0"/>
              <a:t>States prioritize maximizing wealth rather than power.</a:t>
            </a:r>
          </a:p>
          <a:p>
            <a:pPr>
              <a:buFont typeface="Wingdings" pitchFamily="2" charset="2"/>
              <a:buChar char="q"/>
            </a:pPr>
            <a:endParaRPr lang="en-US" altLang="en-US" sz="1200" dirty="0"/>
          </a:p>
          <a:p>
            <a:pPr>
              <a:buFont typeface="Wingdings" pitchFamily="2" charset="2"/>
              <a:buChar char="q"/>
            </a:pPr>
            <a:r>
              <a:rPr lang="en-US" altLang="en-US" sz="2800" dirty="0"/>
              <a:t>Power can increase wealth, but there is sometimes a tradeoff, depending on what the state values as wealth.</a:t>
            </a:r>
          </a:p>
          <a:p>
            <a:pPr>
              <a:buFont typeface="Wingdings" pitchFamily="2" charset="2"/>
              <a:buChar char="q"/>
            </a:pPr>
            <a:endParaRPr lang="en-US" altLang="en-US" sz="1200" dirty="0"/>
          </a:p>
          <a:p>
            <a:pPr>
              <a:buFont typeface="Wingdings" pitchFamily="2" charset="2"/>
              <a:buChar char="q"/>
            </a:pPr>
            <a:r>
              <a:rPr lang="en-US" altLang="en-US" sz="2800" dirty="0"/>
              <a:t>Generally optimistic about the possibilities for cooperation.</a:t>
            </a:r>
          </a:p>
          <a:p>
            <a:pPr lvl="1">
              <a:buFont typeface="Wingdings" pitchFamily="2" charset="2"/>
              <a:buChar char="Ø"/>
            </a:pPr>
            <a:r>
              <a:rPr lang="en-US" altLang="en-US" sz="2100" dirty="0"/>
              <a:t>See many areas where actors have common interests, forming the basis for cooperation.</a:t>
            </a:r>
          </a:p>
          <a:p>
            <a:pPr lvl="1">
              <a:buFont typeface="Wingdings" pitchFamily="2" charset="2"/>
              <a:buChar char="Ø"/>
            </a:pPr>
            <a:r>
              <a:rPr lang="en-US" altLang="en-US" sz="2100" dirty="0"/>
              <a:t>E.g., avoiding conflict, profitable economic exchanges, and environmental protection.</a:t>
            </a:r>
          </a:p>
        </p:txBody>
      </p:sp>
    </p:spTree>
    <p:extLst>
      <p:ext uri="{BB962C8B-B14F-4D97-AF65-F5344CB8AC3E}">
        <p14:creationId xmlns:p14="http://schemas.microsoft.com/office/powerpoint/2010/main" val="1266274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anim calcmode="lin" valueType="num">
                                      <p:cBhvr additive="base">
                                        <p:cTn id="7" dur="500" fill="hold"/>
                                        <p:tgtEl>
                                          <p:spTgt spid="71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anim calcmode="lin" valueType="num">
                                      <p:cBhvr additive="base">
                                        <p:cTn id="11"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anim calcmode="lin" valueType="num">
                                      <p:cBhvr additive="base">
                                        <p:cTn id="15"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1">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anim calcmode="lin" valueType="num">
                                      <p:cBhvr additive="base">
                                        <p:cTn id="19" dur="500" fill="hold"/>
                                        <p:tgtEl>
                                          <p:spTgt spid="717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71">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171">
                                            <p:txEl>
                                              <p:pRg st="7" end="7"/>
                                            </p:txEl>
                                          </p:spTgt>
                                        </p:tgtEl>
                                        <p:attrNameLst>
                                          <p:attrName>style.visibility</p:attrName>
                                        </p:attrNameLst>
                                      </p:cBhvr>
                                      <p:to>
                                        <p:strVal val="visible"/>
                                      </p:to>
                                    </p:set>
                                    <p:anim calcmode="lin" valueType="num">
                                      <p:cBhvr additive="base">
                                        <p:cTn id="23" dur="500" fill="hold"/>
                                        <p:tgtEl>
                                          <p:spTgt spid="7171">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71">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171">
                                            <p:txEl>
                                              <p:pRg st="8" end="8"/>
                                            </p:txEl>
                                          </p:spTgt>
                                        </p:tgtEl>
                                        <p:attrNameLst>
                                          <p:attrName>style.visibility</p:attrName>
                                        </p:attrNameLst>
                                      </p:cBhvr>
                                      <p:to>
                                        <p:strVal val="visible"/>
                                      </p:to>
                                    </p:set>
                                    <p:anim calcmode="lin" valueType="num">
                                      <p:cBhvr additive="base">
                                        <p:cTn id="27" dur="500" fill="hold"/>
                                        <p:tgtEl>
                                          <p:spTgt spid="7171">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7171">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7171">
                                            <p:txEl>
                                              <p:pRg st="9" end="9"/>
                                            </p:txEl>
                                          </p:spTgt>
                                        </p:tgtEl>
                                        <p:attrNameLst>
                                          <p:attrName>style.visibility</p:attrName>
                                        </p:attrNameLst>
                                      </p:cBhvr>
                                      <p:to>
                                        <p:strVal val="visible"/>
                                      </p:to>
                                    </p:set>
                                    <p:anim calcmode="lin" valueType="num">
                                      <p:cBhvr additive="base">
                                        <p:cTn id="31" dur="500" fill="hold"/>
                                        <p:tgtEl>
                                          <p:spTgt spid="7171">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17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pPr eaLnBrk="1" hangingPunct="1"/>
            <a:r>
              <a:rPr lang="en-US" altLang="en-US" dirty="0"/>
              <a:t>Different Types of Liberalism</a:t>
            </a:r>
          </a:p>
        </p:txBody>
      </p:sp>
      <p:sp>
        <p:nvSpPr>
          <p:cNvPr id="3" name="Content Placeholder 2"/>
          <p:cNvSpPr>
            <a:spLocks noGrp="1"/>
          </p:cNvSpPr>
          <p:nvPr>
            <p:ph idx="1"/>
          </p:nvPr>
        </p:nvSpPr>
        <p:spPr>
          <a:xfrm>
            <a:off x="872067" y="2057400"/>
            <a:ext cx="7408333" cy="4068763"/>
          </a:xfrm>
        </p:spPr>
        <p:txBody>
          <a:bodyPr rtlCol="0">
            <a:normAutofit/>
          </a:bodyPr>
          <a:lstStyle/>
          <a:p>
            <a:pPr eaLnBrk="1" fontAlgn="auto" hangingPunct="1">
              <a:spcAft>
                <a:spcPts val="0"/>
              </a:spcAft>
              <a:buFont typeface="Wingdings" pitchFamily="2" charset="2"/>
              <a:buChar char="q"/>
              <a:defRPr/>
            </a:pPr>
            <a:r>
              <a:rPr lang="en-US" b="1" dirty="0"/>
              <a:t>Neoliberal institutionalism</a:t>
            </a:r>
            <a:r>
              <a:rPr lang="en-US" dirty="0"/>
              <a:t>:  International institutions help promote cooperation. </a:t>
            </a:r>
          </a:p>
          <a:p>
            <a:pPr eaLnBrk="1" fontAlgn="auto" hangingPunct="1">
              <a:spcAft>
                <a:spcPts val="0"/>
              </a:spcAft>
              <a:defRPr/>
            </a:pPr>
            <a:endParaRPr lang="en-US" dirty="0"/>
          </a:p>
          <a:p>
            <a:pPr eaLnBrk="1" fontAlgn="auto" hangingPunct="1">
              <a:spcAft>
                <a:spcPts val="0"/>
              </a:spcAft>
              <a:buFont typeface="Wingdings" pitchFamily="2" charset="2"/>
              <a:buChar char="q"/>
              <a:defRPr/>
            </a:pPr>
            <a:r>
              <a:rPr lang="en-US" b="1" dirty="0"/>
              <a:t>Commercial peace theory</a:t>
            </a:r>
            <a:r>
              <a:rPr lang="en-US" dirty="0"/>
              <a:t>: economic interdependence has pacifying effects.</a:t>
            </a:r>
          </a:p>
          <a:p>
            <a:pPr eaLnBrk="1" fontAlgn="auto" hangingPunct="1">
              <a:spcAft>
                <a:spcPts val="0"/>
              </a:spcAft>
              <a:buFont typeface="Wingdings" pitchFamily="2" charset="2"/>
              <a:buChar char="Ø"/>
              <a:defRPr/>
            </a:pPr>
            <a:endParaRPr lang="en-US" dirty="0"/>
          </a:p>
          <a:p>
            <a:pPr eaLnBrk="1" fontAlgn="auto" hangingPunct="1">
              <a:spcAft>
                <a:spcPts val="0"/>
              </a:spcAft>
              <a:buFont typeface="Wingdings" pitchFamily="2" charset="2"/>
              <a:buChar char="q"/>
              <a:defRPr/>
            </a:pPr>
            <a:r>
              <a:rPr lang="en-US" b="1" dirty="0"/>
              <a:t>Democratic Peace</a:t>
            </a:r>
            <a:r>
              <a:rPr lang="en-US" dirty="0"/>
              <a:t>: democratic institutions and norms influence state behavior.</a:t>
            </a:r>
            <a:endParaRPr lang="en-US" u="sng"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E95836-05AC-ACEA-F0A2-5E4E82D4182D}"/>
              </a:ext>
            </a:extLst>
          </p:cNvPr>
          <p:cNvSpPr>
            <a:spLocks noGrp="1"/>
          </p:cNvSpPr>
          <p:nvPr>
            <p:ph idx="1"/>
          </p:nvPr>
        </p:nvSpPr>
        <p:spPr>
          <a:xfrm>
            <a:off x="762001" y="2057400"/>
            <a:ext cx="6095999" cy="4572000"/>
          </a:xfrm>
        </p:spPr>
        <p:txBody>
          <a:bodyPr>
            <a:normAutofit fontScale="92500" lnSpcReduction="10000"/>
          </a:bodyPr>
          <a:lstStyle/>
          <a:p>
            <a:pPr>
              <a:buFont typeface="Wingdings" pitchFamily="2" charset="2"/>
              <a:buChar char="q"/>
            </a:pPr>
            <a:r>
              <a:rPr lang="en-US" dirty="0" err="1"/>
              <a:t>Keohance</a:t>
            </a:r>
            <a:r>
              <a:rPr lang="en-US" dirty="0"/>
              <a:t> (1984</a:t>
            </a:r>
            <a:r>
              <a:rPr lang="en-US" i="1" dirty="0"/>
              <a:t>): After Hegemony.</a:t>
            </a:r>
          </a:p>
          <a:p>
            <a:endParaRPr lang="en-US" dirty="0"/>
          </a:p>
          <a:p>
            <a:pPr>
              <a:buFont typeface="Wingdings" pitchFamily="2" charset="2"/>
              <a:buChar char="q"/>
            </a:pPr>
            <a:r>
              <a:rPr lang="en-US" dirty="0"/>
              <a:t>International system could remain stable in the absence of a hegemon.</a:t>
            </a:r>
          </a:p>
          <a:p>
            <a:endParaRPr lang="en-US" dirty="0"/>
          </a:p>
          <a:p>
            <a:pPr>
              <a:buFont typeface="Wingdings" pitchFamily="2" charset="2"/>
              <a:buChar char="q"/>
            </a:pPr>
            <a:r>
              <a:rPr lang="en-US" dirty="0"/>
              <a:t>International institutions facilitate cooperation between states (see Week 1 lecture slides)</a:t>
            </a:r>
          </a:p>
          <a:p>
            <a:pPr lvl="1">
              <a:buFont typeface="Wingdings" pitchFamily="2" charset="2"/>
              <a:buChar char="Ø"/>
            </a:pPr>
            <a:r>
              <a:rPr lang="en-US" sz="1900" dirty="0"/>
              <a:t>Reduce transaction costs</a:t>
            </a:r>
          </a:p>
          <a:p>
            <a:pPr lvl="1">
              <a:buFont typeface="Wingdings" pitchFamily="2" charset="2"/>
              <a:buChar char="Ø"/>
            </a:pPr>
            <a:r>
              <a:rPr lang="en-US" sz="1900" dirty="0"/>
              <a:t>Provide Information</a:t>
            </a:r>
          </a:p>
          <a:p>
            <a:pPr lvl="1">
              <a:buFont typeface="Wingdings" pitchFamily="2" charset="2"/>
              <a:buChar char="Ø"/>
            </a:pPr>
            <a:r>
              <a:rPr lang="en-US" sz="1900" dirty="0"/>
              <a:t>Enable interlinkages of issues</a:t>
            </a:r>
          </a:p>
          <a:p>
            <a:pPr lvl="1">
              <a:buFont typeface="Wingdings" pitchFamily="2" charset="2"/>
              <a:buChar char="Ø"/>
            </a:pPr>
            <a:r>
              <a:rPr lang="en-US" sz="1900" dirty="0"/>
              <a:t>Facilitate the principle of reciprocity</a:t>
            </a:r>
          </a:p>
          <a:p>
            <a:pPr lvl="1">
              <a:buFont typeface="Wingdings" pitchFamily="2" charset="2"/>
              <a:buChar char="Ø"/>
            </a:pPr>
            <a:r>
              <a:rPr lang="en-US" sz="1900" dirty="0"/>
              <a:t>Extend the shadow of the future (iteration)</a:t>
            </a:r>
          </a:p>
          <a:p>
            <a:pPr lvl="1">
              <a:buFont typeface="Wingdings" pitchFamily="2" charset="2"/>
              <a:buChar char="Ø"/>
            </a:pPr>
            <a:r>
              <a:rPr lang="en-US" sz="1900" dirty="0"/>
              <a:t>Resolve disputes</a:t>
            </a:r>
          </a:p>
          <a:p>
            <a:pPr lvl="1"/>
            <a:endParaRPr lang="en-US" dirty="0"/>
          </a:p>
          <a:p>
            <a:pPr lvl="1"/>
            <a:endParaRPr lang="en-US" dirty="0"/>
          </a:p>
          <a:p>
            <a:endParaRPr lang="en-US" dirty="0"/>
          </a:p>
          <a:p>
            <a:endParaRPr lang="en-US" dirty="0"/>
          </a:p>
        </p:txBody>
      </p:sp>
      <p:sp>
        <p:nvSpPr>
          <p:cNvPr id="3" name="Title 2">
            <a:extLst>
              <a:ext uri="{FF2B5EF4-FFF2-40B4-BE49-F238E27FC236}">
                <a16:creationId xmlns:a16="http://schemas.microsoft.com/office/drawing/2014/main" id="{9215F0DE-DF6F-68F2-DED9-95E6BF0F5593}"/>
              </a:ext>
            </a:extLst>
          </p:cNvPr>
          <p:cNvSpPr>
            <a:spLocks noGrp="1"/>
          </p:cNvSpPr>
          <p:nvPr>
            <p:ph type="title"/>
          </p:nvPr>
        </p:nvSpPr>
        <p:spPr/>
        <p:txBody>
          <a:bodyPr/>
          <a:lstStyle/>
          <a:p>
            <a:r>
              <a:rPr lang="en-US" dirty="0"/>
              <a:t>Neoliberal Institutionalism</a:t>
            </a:r>
          </a:p>
        </p:txBody>
      </p:sp>
      <p:grpSp>
        <p:nvGrpSpPr>
          <p:cNvPr id="6" name="Group 5">
            <a:extLst>
              <a:ext uri="{FF2B5EF4-FFF2-40B4-BE49-F238E27FC236}">
                <a16:creationId xmlns:a16="http://schemas.microsoft.com/office/drawing/2014/main" id="{7925DF20-CE8B-0586-2416-082A8FC6C7A9}"/>
              </a:ext>
            </a:extLst>
          </p:cNvPr>
          <p:cNvGrpSpPr/>
          <p:nvPr/>
        </p:nvGrpSpPr>
        <p:grpSpPr>
          <a:xfrm>
            <a:off x="6858000" y="2057400"/>
            <a:ext cx="1981200" cy="2895600"/>
            <a:chOff x="6858000" y="2057400"/>
            <a:chExt cx="1981200" cy="2895600"/>
          </a:xfrm>
        </p:grpSpPr>
        <p:pic>
          <p:nvPicPr>
            <p:cNvPr id="4" name="Picture 5" descr="The picture on the right is of Robert Keohane, a contemporary IR liberal theorist">
              <a:extLst>
                <a:ext uri="{FF2B5EF4-FFF2-40B4-BE49-F238E27FC236}">
                  <a16:creationId xmlns:a16="http://schemas.microsoft.com/office/drawing/2014/main" id="{411924DE-ECD2-A07D-FD91-04A5DAD61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7010400" y="2057400"/>
              <a:ext cx="1524000" cy="2255520"/>
            </a:xfrm>
            <a:prstGeom prst="rect">
              <a:avLst/>
            </a:prstGeom>
            <a:noFill/>
          </p:spPr>
        </p:pic>
        <p:sp>
          <p:nvSpPr>
            <p:cNvPr id="5" name="TextBox 4">
              <a:extLst>
                <a:ext uri="{FF2B5EF4-FFF2-40B4-BE49-F238E27FC236}">
                  <a16:creationId xmlns:a16="http://schemas.microsoft.com/office/drawing/2014/main" id="{90ACA9DB-0A86-E212-CF09-E99C32CF63C5}"/>
                </a:ext>
              </a:extLst>
            </p:cNvPr>
            <p:cNvSpPr txBox="1"/>
            <p:nvPr/>
          </p:nvSpPr>
          <p:spPr>
            <a:xfrm>
              <a:off x="6858000" y="4572000"/>
              <a:ext cx="1981200" cy="381000"/>
            </a:xfrm>
            <a:prstGeom prst="rect">
              <a:avLst/>
            </a:prstGeom>
            <a:noFill/>
          </p:spPr>
          <p:txBody>
            <a:bodyPr wrap="square" rtlCol="0">
              <a:spAutoFit/>
            </a:bodyPr>
            <a:lstStyle/>
            <a:p>
              <a:r>
                <a:rPr lang="en-US" dirty="0">
                  <a:solidFill>
                    <a:schemeClr val="tx2"/>
                  </a:solidFill>
                </a:rPr>
                <a:t>Robert </a:t>
              </a:r>
              <a:r>
                <a:rPr lang="en-US" dirty="0" err="1">
                  <a:solidFill>
                    <a:schemeClr val="tx2"/>
                  </a:solidFill>
                </a:rPr>
                <a:t>Keohance</a:t>
              </a:r>
              <a:endParaRPr lang="en-US" dirty="0">
                <a:solidFill>
                  <a:schemeClr val="tx2"/>
                </a:solidFill>
              </a:endParaRPr>
            </a:p>
          </p:txBody>
        </p:sp>
      </p:grpSp>
    </p:spTree>
    <p:extLst>
      <p:ext uri="{BB962C8B-B14F-4D97-AF65-F5344CB8AC3E}">
        <p14:creationId xmlns:p14="http://schemas.microsoft.com/office/powerpoint/2010/main" val="111748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729BCF-D124-0C93-1C17-FC4D59A2FBD0}"/>
              </a:ext>
            </a:extLst>
          </p:cNvPr>
          <p:cNvSpPr>
            <a:spLocks noGrp="1"/>
          </p:cNvSpPr>
          <p:nvPr>
            <p:ph idx="1"/>
          </p:nvPr>
        </p:nvSpPr>
        <p:spPr>
          <a:xfrm>
            <a:off x="685800" y="2057400"/>
            <a:ext cx="7924799" cy="4343400"/>
          </a:xfrm>
        </p:spPr>
        <p:txBody>
          <a:bodyPr>
            <a:normAutofit lnSpcReduction="10000"/>
          </a:bodyPr>
          <a:lstStyle/>
          <a:p>
            <a:pPr>
              <a:buFont typeface="Wingdings" pitchFamily="2" charset="2"/>
              <a:buChar char="q"/>
            </a:pPr>
            <a:r>
              <a:rPr lang="en-US" dirty="0"/>
              <a:t>States seek to maximize wealth.</a:t>
            </a:r>
          </a:p>
          <a:p>
            <a:pPr>
              <a:buFont typeface="Wingdings" pitchFamily="2" charset="2"/>
              <a:buChar char="q"/>
            </a:pPr>
            <a:endParaRPr lang="en-US" sz="1100" dirty="0"/>
          </a:p>
          <a:p>
            <a:pPr>
              <a:buFont typeface="Wingdings" pitchFamily="2" charset="2"/>
              <a:buChar char="q"/>
            </a:pPr>
            <a:r>
              <a:rPr lang="en-US" dirty="0"/>
              <a:t>Market openness, trade, and capital flows contribute to economic development and wealth creation.</a:t>
            </a:r>
          </a:p>
          <a:p>
            <a:pPr>
              <a:buFont typeface="Wingdings" pitchFamily="2" charset="2"/>
              <a:buChar char="q"/>
            </a:pPr>
            <a:endParaRPr lang="en-US" sz="1100" dirty="0"/>
          </a:p>
          <a:p>
            <a:pPr>
              <a:buFont typeface="Wingdings" pitchFamily="2" charset="2"/>
              <a:buChar char="q"/>
            </a:pPr>
            <a:r>
              <a:rPr lang="en-US" dirty="0"/>
              <a:t>Economic interdependence increases the opportunity cost of war, as it disrupts normal economic activities.</a:t>
            </a:r>
          </a:p>
          <a:p>
            <a:pPr lvl="1">
              <a:buFont typeface="Wingdings" pitchFamily="2" charset="2"/>
              <a:buChar char="Ø"/>
            </a:pPr>
            <a:r>
              <a:rPr lang="en-US" sz="1800" dirty="0"/>
              <a:t>More to lose when fighting a war with an economic partner.</a:t>
            </a:r>
          </a:p>
          <a:p>
            <a:pPr lvl="1">
              <a:buFont typeface="Wingdings" pitchFamily="2" charset="2"/>
              <a:buChar char="Ø"/>
            </a:pPr>
            <a:r>
              <a:rPr lang="en-US" sz="1800" dirty="0"/>
              <a:t>Domestic groups are incentivized to lobby against war.</a:t>
            </a:r>
          </a:p>
          <a:p>
            <a:pPr lvl="1">
              <a:buFont typeface="Wingdings" pitchFamily="2" charset="2"/>
              <a:buChar char="Ø"/>
            </a:pPr>
            <a:endParaRPr lang="en-US" sz="1000" dirty="0"/>
          </a:p>
          <a:p>
            <a:pPr>
              <a:buFont typeface="Wingdings" pitchFamily="2" charset="2"/>
              <a:buChar char="q"/>
            </a:pPr>
            <a:r>
              <a:rPr lang="en-US" dirty="0"/>
              <a:t>The globalization of finance and the rise of multinational corporations make conquest for economic purposes counterproductive.</a:t>
            </a:r>
          </a:p>
        </p:txBody>
      </p:sp>
      <p:sp>
        <p:nvSpPr>
          <p:cNvPr id="3" name="Title 2">
            <a:extLst>
              <a:ext uri="{FF2B5EF4-FFF2-40B4-BE49-F238E27FC236}">
                <a16:creationId xmlns:a16="http://schemas.microsoft.com/office/drawing/2014/main" id="{38FD4F84-D662-F517-7E42-9EED61F1D0FB}"/>
              </a:ext>
            </a:extLst>
          </p:cNvPr>
          <p:cNvSpPr>
            <a:spLocks noGrp="1"/>
          </p:cNvSpPr>
          <p:nvPr>
            <p:ph type="title"/>
          </p:nvPr>
        </p:nvSpPr>
        <p:spPr/>
        <p:txBody>
          <a:bodyPr/>
          <a:lstStyle/>
          <a:p>
            <a:r>
              <a:rPr lang="en-US" dirty="0"/>
              <a:t>Commercial Peace Theory</a:t>
            </a:r>
          </a:p>
        </p:txBody>
      </p:sp>
    </p:spTree>
    <p:extLst>
      <p:ext uri="{BB962C8B-B14F-4D97-AF65-F5344CB8AC3E}">
        <p14:creationId xmlns:p14="http://schemas.microsoft.com/office/powerpoint/2010/main" val="593597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26EF7C-0BCC-ED53-AAF7-2ECD3290EBF8}"/>
              </a:ext>
            </a:extLst>
          </p:cNvPr>
          <p:cNvSpPr>
            <a:spLocks noGrp="1"/>
          </p:cNvSpPr>
          <p:nvPr>
            <p:ph idx="1"/>
          </p:nvPr>
        </p:nvSpPr>
        <p:spPr>
          <a:xfrm>
            <a:off x="685801" y="2133600"/>
            <a:ext cx="7594600" cy="3962400"/>
          </a:xfrm>
        </p:spPr>
        <p:txBody>
          <a:bodyPr>
            <a:normAutofit fontScale="92500" lnSpcReduction="10000"/>
          </a:bodyPr>
          <a:lstStyle/>
          <a:p>
            <a:pPr>
              <a:buFont typeface="Wingdings" pitchFamily="2" charset="2"/>
              <a:buChar char="q"/>
            </a:pPr>
            <a:r>
              <a:rPr lang="en-US" b="1" dirty="0"/>
              <a:t>Monadic</a:t>
            </a:r>
            <a:r>
              <a:rPr lang="en-US" dirty="0"/>
              <a:t>: democracies are in general more peaceful.</a:t>
            </a:r>
          </a:p>
          <a:p>
            <a:pPr>
              <a:buFont typeface="Wingdings" pitchFamily="2" charset="2"/>
              <a:buChar char="q"/>
            </a:pPr>
            <a:endParaRPr lang="en-US" sz="1100" dirty="0"/>
          </a:p>
          <a:p>
            <a:pPr>
              <a:buFont typeface="Wingdings" pitchFamily="2" charset="2"/>
              <a:buChar char="q"/>
            </a:pPr>
            <a:r>
              <a:rPr lang="en-US" b="1" dirty="0"/>
              <a:t>Dyadic</a:t>
            </a:r>
            <a:r>
              <a:rPr lang="en-US" dirty="0"/>
              <a:t>: democracies do not go to war against each other.</a:t>
            </a:r>
          </a:p>
          <a:p>
            <a:pPr>
              <a:buFont typeface="Wingdings" pitchFamily="2" charset="2"/>
              <a:buChar char="q"/>
            </a:pPr>
            <a:endParaRPr lang="en-US" sz="1100" dirty="0"/>
          </a:p>
          <a:p>
            <a:pPr>
              <a:buFont typeface="Wingdings" pitchFamily="2" charset="2"/>
              <a:buChar char="q"/>
            </a:pPr>
            <a:r>
              <a:rPr lang="en-US" dirty="0"/>
              <a:t>Explanations:</a:t>
            </a:r>
          </a:p>
          <a:p>
            <a:pPr lvl="1">
              <a:buFont typeface="Wingdings" pitchFamily="2" charset="2"/>
              <a:buChar char="Ø"/>
            </a:pPr>
            <a:r>
              <a:rPr lang="en-US" dirty="0"/>
              <a:t>Accountability: democratic leaders more likely to be punished by declaring wars that harm the people.</a:t>
            </a:r>
          </a:p>
          <a:p>
            <a:pPr lvl="1">
              <a:buFont typeface="Wingdings" pitchFamily="2" charset="2"/>
              <a:buChar char="Ø"/>
            </a:pPr>
            <a:endParaRPr lang="en-US" sz="1100" dirty="0"/>
          </a:p>
          <a:p>
            <a:pPr lvl="1">
              <a:buFont typeface="Wingdings" pitchFamily="2" charset="2"/>
              <a:buChar char="Ø"/>
            </a:pPr>
            <a:r>
              <a:rPr lang="en-US" dirty="0"/>
              <a:t>Democratic institutions and processes make it easier to overcome informational problems.</a:t>
            </a:r>
          </a:p>
          <a:p>
            <a:pPr lvl="2">
              <a:buFont typeface="Wingdings" pitchFamily="2" charset="2"/>
              <a:buChar char="v"/>
            </a:pPr>
            <a:r>
              <a:rPr lang="en-US" sz="1700" dirty="0"/>
              <a:t>More transparent.</a:t>
            </a:r>
          </a:p>
          <a:p>
            <a:pPr lvl="2">
              <a:buFont typeface="Wingdings" pitchFamily="2" charset="2"/>
              <a:buChar char="v"/>
            </a:pPr>
            <a:r>
              <a:rPr lang="en-US" sz="1700" dirty="0"/>
              <a:t>Better able to send credible signals in crises.</a:t>
            </a:r>
          </a:p>
          <a:p>
            <a:pPr lvl="2">
              <a:buFont typeface="Wingdings" pitchFamily="2" charset="2"/>
              <a:buChar char="v"/>
            </a:pPr>
            <a:r>
              <a:rPr lang="en-US" sz="1700" dirty="0"/>
              <a:t>Adhere to mutual respect and nonviolence in their dealings with one another.</a:t>
            </a:r>
          </a:p>
        </p:txBody>
      </p:sp>
      <p:sp>
        <p:nvSpPr>
          <p:cNvPr id="3" name="Title 2">
            <a:extLst>
              <a:ext uri="{FF2B5EF4-FFF2-40B4-BE49-F238E27FC236}">
                <a16:creationId xmlns:a16="http://schemas.microsoft.com/office/drawing/2014/main" id="{0F8A0445-505E-AF93-87A5-C26945898CD0}"/>
              </a:ext>
            </a:extLst>
          </p:cNvPr>
          <p:cNvSpPr>
            <a:spLocks noGrp="1"/>
          </p:cNvSpPr>
          <p:nvPr>
            <p:ph type="title"/>
          </p:nvPr>
        </p:nvSpPr>
        <p:spPr/>
        <p:txBody>
          <a:bodyPr/>
          <a:lstStyle/>
          <a:p>
            <a:r>
              <a:rPr lang="en-US" dirty="0"/>
              <a:t>Democratic Peace Theory</a:t>
            </a:r>
          </a:p>
        </p:txBody>
      </p:sp>
    </p:spTree>
    <p:extLst>
      <p:ext uri="{BB962C8B-B14F-4D97-AF65-F5344CB8AC3E}">
        <p14:creationId xmlns:p14="http://schemas.microsoft.com/office/powerpoint/2010/main" val="983226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F4F7DC-F3FD-4101-5E12-DDA94CEA755C}"/>
              </a:ext>
            </a:extLst>
          </p:cNvPr>
          <p:cNvSpPr>
            <a:spLocks noGrp="1"/>
          </p:cNvSpPr>
          <p:nvPr>
            <p:ph idx="1"/>
          </p:nvPr>
        </p:nvSpPr>
        <p:spPr>
          <a:xfrm>
            <a:off x="762000" y="1951037"/>
            <a:ext cx="7772399" cy="4221163"/>
          </a:xfrm>
        </p:spPr>
        <p:txBody>
          <a:bodyPr>
            <a:normAutofit fontScale="92500" lnSpcReduction="20000"/>
          </a:bodyPr>
          <a:lstStyle/>
          <a:p>
            <a:pPr>
              <a:buFont typeface="Wingdings" pitchFamily="2" charset="2"/>
              <a:buChar char="q"/>
            </a:pPr>
            <a:r>
              <a:rPr lang="en-US" dirty="0"/>
              <a:t>Wendt (1999): </a:t>
            </a:r>
            <a:r>
              <a:rPr lang="en-US" i="1" dirty="0"/>
              <a:t>Social Theory of International Politics.</a:t>
            </a:r>
          </a:p>
          <a:p>
            <a:pPr>
              <a:buFont typeface="Wingdings" pitchFamily="2" charset="2"/>
              <a:buChar char="q"/>
            </a:pPr>
            <a:endParaRPr lang="en-US" sz="1100" dirty="0"/>
          </a:p>
          <a:p>
            <a:pPr>
              <a:buFont typeface="Wingdings" pitchFamily="2" charset="2"/>
              <a:buChar char="q"/>
            </a:pPr>
            <a:r>
              <a:rPr lang="en-US" dirty="0"/>
              <a:t>International institutions can be effective, even transformative.</a:t>
            </a:r>
          </a:p>
          <a:p>
            <a:pPr>
              <a:buFont typeface="Wingdings" pitchFamily="2" charset="2"/>
              <a:buChar char="q"/>
            </a:pPr>
            <a:endParaRPr lang="en-US" sz="1100" dirty="0"/>
          </a:p>
          <a:p>
            <a:pPr>
              <a:buFont typeface="Wingdings" pitchFamily="2" charset="2"/>
              <a:buChar char="q"/>
            </a:pPr>
            <a:r>
              <a:rPr lang="en-US" dirty="0"/>
              <a:t>De-emphasizes the material sources of interests (e.g., wealth).</a:t>
            </a:r>
          </a:p>
          <a:p>
            <a:pPr>
              <a:buFont typeface="Wingdings" pitchFamily="2" charset="2"/>
              <a:buChar char="q"/>
            </a:pPr>
            <a:endParaRPr lang="en-US" sz="1200" dirty="0"/>
          </a:p>
          <a:p>
            <a:pPr>
              <a:buFont typeface="Wingdings" pitchFamily="2" charset="2"/>
              <a:buChar char="q"/>
            </a:pPr>
            <a:r>
              <a:rPr lang="en-US" dirty="0"/>
              <a:t>Focuses on the role of nonmaterial factors, such as ideas, culture, and norms.</a:t>
            </a:r>
          </a:p>
          <a:p>
            <a:pPr>
              <a:buFont typeface="Wingdings" pitchFamily="2" charset="2"/>
              <a:buChar char="q"/>
            </a:pPr>
            <a:endParaRPr lang="en-US" sz="1200" dirty="0"/>
          </a:p>
          <a:p>
            <a:pPr>
              <a:buFont typeface="Wingdings" pitchFamily="2" charset="2"/>
              <a:buChar char="q"/>
            </a:pPr>
            <a:r>
              <a:rPr lang="en-US" dirty="0"/>
              <a:t>What actors want is shaped by their culture, prevailing ideas, and identity, or their conception of who they are—not fixed or predetermined.</a:t>
            </a:r>
          </a:p>
          <a:p>
            <a:pPr lvl="1">
              <a:buFont typeface="Wingdings" pitchFamily="2" charset="2"/>
              <a:buChar char="Ø"/>
            </a:pPr>
            <a:r>
              <a:rPr lang="en-US" sz="1900" dirty="0"/>
              <a:t>A state may forgo certain weapons if a large number of countries decide that using them is barbaric.</a:t>
            </a:r>
          </a:p>
        </p:txBody>
      </p:sp>
      <p:sp>
        <p:nvSpPr>
          <p:cNvPr id="3" name="Title 2">
            <a:extLst>
              <a:ext uri="{FF2B5EF4-FFF2-40B4-BE49-F238E27FC236}">
                <a16:creationId xmlns:a16="http://schemas.microsoft.com/office/drawing/2014/main" id="{46427FEC-103E-CE39-1D1F-F37C60B6B94D}"/>
              </a:ext>
            </a:extLst>
          </p:cNvPr>
          <p:cNvSpPr>
            <a:spLocks noGrp="1"/>
          </p:cNvSpPr>
          <p:nvPr>
            <p:ph type="title"/>
          </p:nvPr>
        </p:nvSpPr>
        <p:spPr/>
        <p:txBody>
          <a:bodyPr/>
          <a:lstStyle/>
          <a:p>
            <a:r>
              <a:rPr lang="en-US" dirty="0"/>
              <a:t>Constructivism</a:t>
            </a:r>
          </a:p>
        </p:txBody>
      </p:sp>
    </p:spTree>
    <p:extLst>
      <p:ext uri="{BB962C8B-B14F-4D97-AF65-F5344CB8AC3E}">
        <p14:creationId xmlns:p14="http://schemas.microsoft.com/office/powerpoint/2010/main" val="6739935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89343E7-D375-4F29-A08E-FF50F224C800}"/>
              </a:ext>
            </a:extLst>
          </p:cNvPr>
          <p:cNvSpPr>
            <a:spLocks noGrp="1"/>
          </p:cNvSpPr>
          <p:nvPr>
            <p:ph idx="1"/>
          </p:nvPr>
        </p:nvSpPr>
        <p:spPr>
          <a:xfrm>
            <a:off x="872067" y="1905000"/>
            <a:ext cx="7586133" cy="4144963"/>
          </a:xfrm>
        </p:spPr>
        <p:txBody>
          <a:bodyPr>
            <a:normAutofit fontScale="92500" lnSpcReduction="10000"/>
          </a:bodyPr>
          <a:lstStyle/>
          <a:p>
            <a:pPr>
              <a:buFont typeface="Wingdings" pitchFamily="2" charset="2"/>
              <a:buChar char="q"/>
            </a:pPr>
            <a:r>
              <a:rPr lang="en-US" dirty="0"/>
              <a:t>Institutions embody the rules appropriate for behavior, thereby exerting a profound effect on actions and observed outcomes.</a:t>
            </a:r>
          </a:p>
          <a:p>
            <a:pPr>
              <a:buFont typeface="Wingdings" pitchFamily="2" charset="2"/>
              <a:buChar char="q"/>
            </a:pPr>
            <a:endParaRPr lang="en-US" sz="1000" dirty="0"/>
          </a:p>
          <a:p>
            <a:pPr>
              <a:buFont typeface="Wingdings" pitchFamily="2" charset="2"/>
              <a:buChar char="q"/>
            </a:pPr>
            <a:r>
              <a:rPr lang="en-US" dirty="0"/>
              <a:t>See significant potential for changes or even fundamental transformation in world politics as norms and values can change.</a:t>
            </a:r>
          </a:p>
          <a:p>
            <a:pPr>
              <a:buFont typeface="Wingdings" pitchFamily="2" charset="2"/>
              <a:buChar char="q"/>
            </a:pPr>
            <a:endParaRPr lang="en-US" sz="1100" dirty="0"/>
          </a:p>
          <a:p>
            <a:pPr>
              <a:buFont typeface="Wingdings" pitchFamily="2" charset="2"/>
              <a:buChar char="q"/>
            </a:pPr>
            <a:r>
              <a:rPr lang="en-US" dirty="0"/>
              <a:t>International system is not foreordained by the condition of anarchy.</a:t>
            </a:r>
          </a:p>
          <a:p>
            <a:pPr>
              <a:buFont typeface="Wingdings" pitchFamily="2" charset="2"/>
              <a:buChar char="q"/>
            </a:pPr>
            <a:endParaRPr lang="en-US" sz="1100" dirty="0"/>
          </a:p>
          <a:p>
            <a:pPr>
              <a:buFont typeface="Wingdings" pitchFamily="2" charset="2"/>
              <a:buChar char="q"/>
            </a:pPr>
            <a:r>
              <a:rPr lang="en-US" dirty="0"/>
              <a:t>The conscious efforts of activists can alter state behavior by promoting new norms.</a:t>
            </a:r>
          </a:p>
          <a:p>
            <a:endParaRPr lang="en-US" dirty="0"/>
          </a:p>
        </p:txBody>
      </p:sp>
      <p:sp>
        <p:nvSpPr>
          <p:cNvPr id="3" name="Title 2">
            <a:extLst>
              <a:ext uri="{FF2B5EF4-FFF2-40B4-BE49-F238E27FC236}">
                <a16:creationId xmlns:a16="http://schemas.microsoft.com/office/drawing/2014/main" id="{A8DF1A6E-14FC-A654-2C12-BE70AD74CCD3}"/>
              </a:ext>
            </a:extLst>
          </p:cNvPr>
          <p:cNvSpPr>
            <a:spLocks noGrp="1"/>
          </p:cNvSpPr>
          <p:nvPr>
            <p:ph type="title"/>
          </p:nvPr>
        </p:nvSpPr>
        <p:spPr/>
        <p:txBody>
          <a:bodyPr/>
          <a:lstStyle/>
          <a:p>
            <a:r>
              <a:rPr lang="en-US" dirty="0"/>
              <a:t>Constructivism</a:t>
            </a:r>
          </a:p>
        </p:txBody>
      </p:sp>
    </p:spTree>
    <p:extLst>
      <p:ext uri="{BB962C8B-B14F-4D97-AF65-F5344CB8AC3E}">
        <p14:creationId xmlns:p14="http://schemas.microsoft.com/office/powerpoint/2010/main" val="4039287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304800"/>
            <a:ext cx="8229600" cy="533400"/>
          </a:xfrm>
        </p:spPr>
        <p:txBody>
          <a:bodyPr>
            <a:normAutofit fontScale="90000"/>
          </a:bodyPr>
          <a:lstStyle/>
          <a:p>
            <a:r>
              <a:rPr lang="en-US" dirty="0"/>
              <a:t>Realism, Liberalism &amp; Constructivism</a:t>
            </a:r>
          </a:p>
        </p:txBody>
      </p:sp>
      <p:graphicFrame>
        <p:nvGraphicFramePr>
          <p:cNvPr id="8" name="Object 7"/>
          <p:cNvGraphicFramePr>
            <a:graphicFrameLocks noChangeAspect="1"/>
          </p:cNvGraphicFramePr>
          <p:nvPr>
            <p:extLst>
              <p:ext uri="{D42A27DB-BD31-4B8C-83A1-F6EECF244321}">
                <p14:modId xmlns:p14="http://schemas.microsoft.com/office/powerpoint/2010/main" val="657553408"/>
              </p:ext>
            </p:extLst>
          </p:nvPr>
        </p:nvGraphicFramePr>
        <p:xfrm>
          <a:off x="304799" y="1143000"/>
          <a:ext cx="8610601" cy="5749925"/>
        </p:xfrm>
        <a:graphic>
          <a:graphicData uri="http://schemas.openxmlformats.org/presentationml/2006/ole">
            <mc:AlternateContent xmlns:mc="http://schemas.openxmlformats.org/markup-compatibility/2006">
              <mc:Choice xmlns:v="urn:schemas-microsoft-com:vml" Requires="v">
                <p:oleObj name="Document" r:id="rId3" imgW="10121900" imgH="6959600" progId="Word.Document.12">
                  <p:embed/>
                </p:oleObj>
              </mc:Choice>
              <mc:Fallback>
                <p:oleObj name="Document" r:id="rId3" imgW="10121900" imgH="6959600" progId="Word.Document.12">
                  <p:embed/>
                  <p:pic>
                    <p:nvPicPr>
                      <p:cNvPr id="8" name="Object 7"/>
                      <p:cNvPicPr/>
                      <p:nvPr/>
                    </p:nvPicPr>
                    <p:blipFill>
                      <a:blip r:embed="rId4"/>
                      <a:stretch>
                        <a:fillRect/>
                      </a:stretch>
                    </p:blipFill>
                    <p:spPr>
                      <a:xfrm>
                        <a:off x="304799" y="1143000"/>
                        <a:ext cx="8610601" cy="5749925"/>
                      </a:xfrm>
                      <a:prstGeom prst="rect">
                        <a:avLst/>
                      </a:prstGeom>
                    </p:spPr>
                  </p:pic>
                </p:oleObj>
              </mc:Fallback>
            </mc:AlternateContent>
          </a:graphicData>
        </a:graphic>
      </p:graphicFrame>
    </p:spTree>
    <p:extLst>
      <p:ext uri="{BB962C8B-B14F-4D97-AF65-F5344CB8AC3E}">
        <p14:creationId xmlns:p14="http://schemas.microsoft.com/office/powerpoint/2010/main" val="17735018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aveform">
  <a:themeElements>
    <a:clrScheme name="Waveform">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Waveform">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aveform">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Waveform</Template>
  <TotalTime>6478</TotalTime>
  <Words>1408</Words>
  <Application>Microsoft Macintosh PowerPoint</Application>
  <PresentationFormat>On-screen Show (4:3)</PresentationFormat>
  <Paragraphs>199</Paragraphs>
  <Slides>21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27" baseType="lpstr">
      <vt:lpstr>Aptos</vt:lpstr>
      <vt:lpstr>Candara</vt:lpstr>
      <vt:lpstr>Symbol</vt:lpstr>
      <vt:lpstr>Wingdings</vt:lpstr>
      <vt:lpstr>Waveform</vt:lpstr>
      <vt:lpstr>Document</vt:lpstr>
      <vt:lpstr>PLSC 14: Realism, Liberalism &amp; Constructivism</vt:lpstr>
      <vt:lpstr>What Is a Theory?</vt:lpstr>
      <vt:lpstr>PowerPoint Presentation</vt:lpstr>
      <vt:lpstr>Realism</vt:lpstr>
      <vt:lpstr>Realism</vt:lpstr>
      <vt:lpstr>Realism</vt:lpstr>
      <vt:lpstr>Types of Realism</vt:lpstr>
      <vt:lpstr>Classical Realism</vt:lpstr>
      <vt:lpstr>Neorealism</vt:lpstr>
      <vt:lpstr>Classical Realism vs Neorealism</vt:lpstr>
      <vt:lpstr>Defensive Realism</vt:lpstr>
      <vt:lpstr>Offensive Realism</vt:lpstr>
      <vt:lpstr>Liberalism</vt:lpstr>
      <vt:lpstr>Liberalism</vt:lpstr>
      <vt:lpstr>Different Types of Liberalism</vt:lpstr>
      <vt:lpstr>Neoliberal Institutionalism</vt:lpstr>
      <vt:lpstr>Commercial Peace Theory</vt:lpstr>
      <vt:lpstr>Democratic Peace Theory</vt:lpstr>
      <vt:lpstr>Constructivism</vt:lpstr>
      <vt:lpstr>Constructivism</vt:lpstr>
      <vt:lpstr>Realism, Liberalism &amp; Constructivism</vt:lpstr>
    </vt:vector>
  </TitlesOfParts>
  <Company>College of the Liberal Arts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Boliang Zhu</dc:creator>
  <cp:lastModifiedBy>Zhu, Boliang</cp:lastModifiedBy>
  <cp:revision>247</cp:revision>
  <cp:lastPrinted>2012-09-03T14:27:47Z</cp:lastPrinted>
  <dcterms:created xsi:type="dcterms:W3CDTF">2012-08-26T23:14:14Z</dcterms:created>
  <dcterms:modified xsi:type="dcterms:W3CDTF">2026-09-08T01:59:36Z</dcterms:modified>
</cp:coreProperties>
</file>